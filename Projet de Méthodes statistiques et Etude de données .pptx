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9"/>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Bricolage Grotesque Bold" charset="1" panose="020B0605040402000204"/>
      <p:regular r:id="rId22"/>
    </p:embeddedFont>
    <p:embeddedFont>
      <p:font typeface="Bricolage Grotesque Light" charset="1" panose="020B0605040402000204"/>
      <p:regular r:id="rId23"/>
    </p:embeddedFont>
    <p:embeddedFont>
      <p:font typeface="Bricolage Grotesque" charset="1" panose="020B0605040402000204"/>
      <p:regular r:id="rId26"/>
    </p:embeddedFont>
    <p:embeddedFont>
      <p:font typeface="Canva Sans Bold" charset="1" panose="020B0803030501040103"/>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notesMasters/notesMaster1.xml" Type="http://schemas.openxmlformats.org/officeDocument/2006/relationships/notesMaster"/><Relationship Id="rId2" Target="presProps.xml" Type="http://schemas.openxmlformats.org/officeDocument/2006/relationships/presProps"/><Relationship Id="rId20" Target="theme/theme2.xml" Type="http://schemas.openxmlformats.org/officeDocument/2006/relationships/theme"/><Relationship Id="rId21" Target="notesSlides/notesSlide1.xml" Type="http://schemas.openxmlformats.org/officeDocument/2006/relationships/notesSlide"/><Relationship Id="rId22" Target="fonts/font22.fntdata" Type="http://schemas.openxmlformats.org/officeDocument/2006/relationships/font"/><Relationship Id="rId23" Target="fonts/font23.fntdata" Type="http://schemas.openxmlformats.org/officeDocument/2006/relationships/font"/><Relationship Id="rId24" Target="notesSlides/notesSlide2.xml" Type="http://schemas.openxmlformats.org/officeDocument/2006/relationships/notesSlide"/><Relationship Id="rId25" Target="notesSlides/notesSlide3.xml" Type="http://schemas.openxmlformats.org/officeDocument/2006/relationships/notesSlide"/><Relationship Id="rId26" Target="fonts/font26.fntdata" Type="http://schemas.openxmlformats.org/officeDocument/2006/relationships/font"/><Relationship Id="rId27" Target="notesSlides/notesSlide4.xml" Type="http://schemas.openxmlformats.org/officeDocument/2006/relationships/notesSlide"/><Relationship Id="rId28" Target="notesSlides/notesSlide5.xml" Type="http://schemas.openxmlformats.org/officeDocument/2006/relationships/notesSlide"/><Relationship Id="rId29" Target="notesSlides/notesSlide6.xml" Type="http://schemas.openxmlformats.org/officeDocument/2006/relationships/notesSlide"/><Relationship Id="rId3" Target="viewProps.xml" Type="http://schemas.openxmlformats.org/officeDocument/2006/relationships/viewProps"/><Relationship Id="rId30" Target="fonts/font30.fntdata" Type="http://schemas.openxmlformats.org/officeDocument/2006/relationships/font"/><Relationship Id="rId31" Target="notesSlides/notesSlide7.xml" Type="http://schemas.openxmlformats.org/officeDocument/2006/relationships/notesSlide"/><Relationship Id="rId32" Target="notesSlides/notesSlide8.xml" Type="http://schemas.openxmlformats.org/officeDocument/2006/relationships/notesSlide"/><Relationship Id="rId33" Target="notesSlides/notesSlide9.xml" Type="http://schemas.openxmlformats.org/officeDocument/2006/relationships/notesSlide"/><Relationship Id="rId34" Target="notesSlides/notesSlide10.xml" Type="http://schemas.openxmlformats.org/officeDocument/2006/relationships/notesSlide"/><Relationship Id="rId35" Target="notesSlides/notesSlide11.xml" Type="http://schemas.openxmlformats.org/officeDocument/2006/relationships/notesSlide"/><Relationship Id="rId36" Target="notesSlides/notesSlide12.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"Good morning. My name is Khaled Briki, and together with Oussema Ferchichi, we present our project: Customer Segmentation via Multivariate Analysis. The goal was to take raw wholesale customer data and extract real, actionable business profiles using two statistical methods — Principal Component Analysis (PCA) and K-Means Clustering. Let me walk you through exactly how we did that."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"Our project had three clear objectives.</a:t>
            </a:r>
          </a:p>
          <a:p>
            <a:r>
              <a:rPr lang="en-US"/>
              <a:t/>
            </a:r>
          </a:p>
          <a:p>
            <a:r>
              <a:rPr lang="en-US"/>
              <a:t>First, we wanted to analyze multidimensional spending behavior — meaning we had 6 different spending categories per customer, and we needed to make sense of all of them together, not one at a time.</a:t>
            </a:r>
          </a:p>
          <a:p>
            <a:r>
              <a:rPr lang="en-US"/>
              <a:t/>
            </a:r>
          </a:p>
          <a:p>
            <a:r>
              <a:rPr lang="en-US"/>
              <a:t>Second, we used PCA — Principal Component Analysis — to reduce that complexity. Six dimensions is impossible to visualize, so we compressed it down to two.</a:t>
            </a:r>
          </a:p>
          <a:p>
            <a:r>
              <a:rPr lang="en-US"/>
              <a:t/>
            </a:r>
          </a:p>
          <a:p>
            <a:r>
              <a:rPr lang="en-US"/>
              <a:t>Third, once we could see the data in 2D, we applied K-Means Clustering to identify distinct customer profiles — groups that are different enough from each other to justify different business strategies."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"Our dataset comes from the UCI Machine Learning Repository — a well-known, trusted academic source. It contains 440 wholesale customers, each described by 8 variables. We focused on the 6 continuous spending variables: Fresh food, Milk, Grocery, Frozen goods, Detergents &amp; Paper, and Delicatessen.</a:t>
            </a:r>
          </a:p>
          <a:p>
            <a:r>
              <a:rPr lang="en-US"/>
              <a:t/>
            </a:r>
          </a:p>
          <a:p>
            <a:r>
              <a:rPr lang="en-US"/>
              <a:t/>
            </a:r>
          </a:p>
          <a:p>
            <a:r>
              <a:rPr lang="en-US"/>
              <a:t>Each row in this table is one customer, and the numbers represent their annual spending in monetary units. As you can see, the values vary enormously — some customers spend a few hundred, others spend tens of thousands. That variation is exactly what makes this dataset interesting and challenging to analyze."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"Before any analysis, we had to clean and prepare the data. There were two problems.</a:t>
            </a:r>
          </a:p>
          <a:p>
            <a:r>
              <a:rPr lang="en-US"/>
              <a:t/>
            </a:r>
          </a:p>
          <a:p>
            <a:r>
              <a:rPr lang="en-US"/>
              <a:t/>
            </a:r>
          </a:p>
          <a:p>
            <a:r>
              <a:rPr lang="en-US"/>
              <a:t>Problem one: the data is heavily right-skewed. Most customers are small buyers, but a handful of giant clients spend 50 times more than average. Those extreme values would distort our entire analysis if left untreated. So we applied a log(x+1) transformation, which compresses the extreme values proportionally without removing them.</a:t>
            </a:r>
          </a:p>
          <a:p>
            <a:r>
              <a:rPr lang="en-US"/>
              <a:t/>
            </a:r>
          </a:p>
          <a:p>
            <a:r>
              <a:rPr lang="en-US"/>
              <a:t/>
            </a:r>
          </a:p>
          <a:p>
            <a:r>
              <a:rPr lang="en-US"/>
              <a:t>Problem two: the 6 variables have very different scales. Fresh food spending reaches tens of thousands, while Detergents might be in the hundreds. Both PCA and K-Means calculate distances between data points — so a variable with bigger numbers would unfairly dominate the result. We fixed this with Z-score standardization, which converts every variable into 'how many standard deviations from the average is this customer?' Now every category is treated with equal weight."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"Before running PCA, we explored the relationships between variables using a correlation matrix — this heatmap.</a:t>
            </a:r>
          </a:p>
          <a:p>
            <a:r>
              <a:rPr lang="en-US"/>
              <a:t/>
            </a:r>
          </a:p>
          <a:p>
            <a:r>
              <a:rPr lang="en-US"/>
              <a:t/>
            </a:r>
          </a:p>
          <a:p>
            <a:r>
              <a:rPr lang="en-US"/>
              <a:t>The key finding here is the dark blue square between Grocery and Detergents — a correlation of 0.92. That is extremely high. It means customers who buy a lot of Grocery almost always buy a lot of Detergents and Milk too. They move together.</a:t>
            </a:r>
          </a:p>
          <a:p>
            <a:r>
              <a:rPr lang="en-US"/>
              <a:t/>
            </a:r>
          </a:p>
          <a:p>
            <a:r>
              <a:rPr lang="en-US"/>
              <a:t/>
            </a:r>
          </a:p>
          <a:p>
            <a:r>
              <a:rPr lang="en-US"/>
              <a:t>On the other hand, Fresh and Frozen have very low correlations with Grocery and Detergents — close to zero or even slightly negative. They are independent — they represent a completely different type of buyer.</a:t>
            </a:r>
          </a:p>
          <a:p>
            <a:r>
              <a:rPr lang="en-US"/>
              <a:t/>
            </a:r>
          </a:p>
          <a:p>
            <a:r>
              <a:rPr lang="en-US"/>
              <a:t/>
            </a:r>
          </a:p>
          <a:p>
            <a:r>
              <a:rPr lang="en-US"/>
              <a:t>This is critical because it tells us, even before PCA, that there are two distinct behavioral axes in this dataset. PCA will confirm and formalize exactly that."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"Now, Principal Component Analysis. We had 6 variables — impossible to plot or cluster directly. PCA finds the combinations of those variables that explain the most difference between customers, and projects everyone onto those new axes.</a:t>
            </a:r>
          </a:p>
          <a:p>
            <a:r>
              <a:rPr lang="en-US"/>
              <a:t/>
            </a:r>
          </a:p>
          <a:p>
            <a:r>
              <a:rPr lang="en-US"/>
              <a:t/>
            </a:r>
          </a:p>
          <a:p>
            <a:r>
              <a:rPr lang="en-US"/>
              <a:t>Looking at this Scree plot, each bar represents one dimension. Dimension 1 alone explains 44.1% of the total variance in the data. Dimension 2 explains 27.2%. Together, the first two dimensions explain 71.3% of all the information in the dataset.</a:t>
            </a:r>
          </a:p>
          <a:p>
            <a:r>
              <a:rPr lang="en-US"/>
              <a:t/>
            </a:r>
          </a:p>
          <a:p>
            <a:r>
              <a:rPr lang="en-US"/>
              <a:t/>
            </a:r>
          </a:p>
          <a:p>
            <a:r>
              <a:rPr lang="en-US"/>
              <a:t>That means by going from 6 variables down to just 2, we kept 71% of the original information. We lost 29% — but what we gained is the ability to visualize and cluster 440 customers on a simple 2D map. That is a very strong and successful dimensionality reduction."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plot — called the Variables Factor Map or Circle of Correlations — tells us what each dimension actually represents.</a:t>
            </a:r>
          </a:p>
          <a:p>
            <a:r>
              <a:rPr lang="en-US"/>
              <a:t/>
            </a:r>
          </a:p>
          <a:p>
            <a:r>
              <a:rPr lang="en-US"/>
              <a:t/>
            </a:r>
          </a:p>
          <a:p>
            <a:r>
              <a:rPr lang="en-US"/>
              <a:t>Each arrow is one of our original 6 variables. The direction of the arrow shows which dimension it contributes to. The length shows how well that variable is captured in 2D — a longer arrow means it is well-represented.</a:t>
            </a:r>
          </a:p>
          <a:p>
            <a:r>
              <a:rPr lang="en-US"/>
              <a:t/>
            </a:r>
          </a:p>
          <a:p>
            <a:r>
              <a:rPr lang="en-US"/>
              <a:t/>
            </a:r>
          </a:p>
          <a:p>
            <a:r>
              <a:rPr lang="en-US"/>
              <a:t>Look at Dimension 1, the horizontal axis: Grocery, Milk, and Detergents all point strongly to the right. So Dimension 1 separates retail-oriented clients — the more a customer is positioned to the right, the more they look like a supermarket or grocery store. We call this the Retail Axis.</a:t>
            </a:r>
          </a:p>
          <a:p>
            <a:r>
              <a:rPr lang="en-US"/>
              <a:t/>
            </a:r>
          </a:p>
          <a:p>
            <a:r>
              <a:rPr lang="en-US"/>
              <a:t/>
            </a:r>
          </a:p>
          <a:p>
            <a:r>
              <a:rPr lang="en-US"/>
              <a:t>Now look at Dimension 2, the vertical axis: Fresh and Frozen point upward. So Dimension 2 separates customers who rely on perishable goods — restaurants, cafés, catering companies. We call this the Restaurant Axis.</a:t>
            </a:r>
          </a:p>
          <a:p>
            <a:r>
              <a:rPr lang="en-US"/>
              <a:t/>
            </a:r>
          </a:p>
          <a:p>
            <a:r>
              <a:rPr lang="en-US"/>
              <a:t/>
            </a:r>
          </a:p>
          <a:p>
            <a:r>
              <a:rPr lang="en-US"/>
              <a:t>This gives every customer a meaningful position on the map, not just a number."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"With our customers now on a 2D map, we applied K-Means Clustering to group them automatically.</a:t>
            </a:r>
          </a:p>
          <a:p>
            <a:r>
              <a:rPr lang="en-US"/>
              <a:t/>
            </a:r>
          </a:p>
          <a:p>
            <a:r>
              <a:rPr lang="en-US"/>
              <a:t/>
            </a:r>
          </a:p>
          <a:p>
            <a:r>
              <a:rPr lang="en-US"/>
              <a:t>The algorithm works like this: it places K random center points — called centroids — on the map. Every customer is assigned to the nearest centroid. Then each centroid moves to the geometric center of its assigned customers. This repeats until the assignments stop changing — that is called convergence.</a:t>
            </a:r>
          </a:p>
          <a:p>
            <a:r>
              <a:rPr lang="en-US"/>
              <a:t/>
            </a:r>
          </a:p>
          <a:p>
            <a:r>
              <a:rPr lang="en-US"/>
              <a:t/>
            </a:r>
          </a:p>
          <a:p>
            <a:r>
              <a:rPr lang="en-US"/>
              <a:t>But how do we choose K — the number of groups? We used the Elbow Method, shown in this plot. The Y-axis is WSS — Within-Cluster Sum of Squares — which measures how spread out customers are inside each group. Lower is better.</a:t>
            </a:r>
          </a:p>
          <a:p>
            <a:r>
              <a:rPr lang="en-US"/>
              <a:t/>
            </a:r>
          </a:p>
          <a:p>
            <a:r>
              <a:rPr lang="en-US"/>
              <a:t/>
            </a:r>
          </a:p>
          <a:p>
            <a:r>
              <a:rPr lang="en-US"/>
              <a:t>The curve drops sharply from K=1 to K=3, then it starts to flatten. That bend at K=3 is the elbow — the point where adding more clusters gives diminishing returns. Beyond 3, we would be splitting groups that don't need to be split. So K=3 is our optimal choice, mathematically justified."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is where everything comes together. We took the 3 cluster labels produced by K-Means and projected them onto our PCA scatter plot — one color per cluster.</a:t>
            </a:r>
          </a:p>
          <a:p>
            <a:r>
              <a:rPr lang="en-US"/>
              <a:t/>
            </a:r>
          </a:p>
          <a:p>
            <a:r>
              <a:rPr lang="en-US"/>
              <a:t/>
            </a:r>
          </a:p>
          <a:p>
            <a:r>
              <a:rPr lang="en-US"/>
              <a:t>What we see are three clearly separated, non-overlapping zones. The blue group is on the left. The green group is on the upper right. The red group is on the lower right. Their boundaries do not heavily overlap.</a:t>
            </a:r>
          </a:p>
          <a:p>
            <a:r>
              <a:rPr lang="en-US"/>
              <a:t/>
            </a:r>
          </a:p>
          <a:p>
            <a:r>
              <a:rPr lang="en-US"/>
              <a:t/>
            </a:r>
          </a:p>
          <a:p>
            <a:r>
              <a:rPr lang="en-US"/>
              <a:t>This separation is the validation of our entire approach. It proves that the clusters are real and meaningful — not random or arbitrary. If the groups were blurry or overlapping, it would suggest the clustering failed. But here, the structure is clean and distinct, which confirms that these three behavioral profiles genuinely exist in the data."</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"Now we interpret what the three clusters actually mean in business terms, using the average spending table on this slide.</a:t>
            </a:r>
          </a:p>
          <a:p>
            <a:r>
              <a:rPr lang="en-US"/>
              <a:t/>
            </a:r>
          </a:p>
          <a:p>
            <a:r>
              <a:rPr lang="en-US"/>
              <a:t/>
            </a:r>
          </a:p>
          <a:p>
            <a:r>
              <a:rPr lang="en-US"/>
              <a:t>Cluster 1 — we call these the Retail Supermarkets. They spend very little on Fresh food — only 2,869 — but massively on Grocery at 12,459 and Detergents at 5,487. This spending pattern is typical of grocery stores and corner shops: they stock shelves with packaged goods, not kitchens with perishables.</a:t>
            </a:r>
          </a:p>
          <a:p>
            <a:r>
              <a:rPr lang="en-US"/>
              <a:t/>
            </a:r>
          </a:p>
          <a:p>
            <a:r>
              <a:rPr lang="en-US"/>
              <a:t/>
            </a:r>
          </a:p>
          <a:p>
            <a:r>
              <a:rPr lang="en-US"/>
              <a:t>Cluster 2 — these are the Premium High-Volume Buyers. They spend heavily across everything: 17,043 on Fresh, 13,334 on Grocery, 10,560 on Milk. These are large-scale operations — think hypermarkets like Carrefour, or large hotel chains. They are the highest-value clients in the dataset.</a:t>
            </a:r>
          </a:p>
          <a:p>
            <a:r>
              <a:rPr lang="en-US"/>
              <a:t/>
            </a:r>
          </a:p>
          <a:p>
            <a:r>
              <a:rPr lang="en-US"/>
              <a:t/>
            </a:r>
          </a:p>
          <a:p>
            <a:r>
              <a:rPr lang="en-US"/>
              <a:t>Cluster 3 — these are the Restaurants and Caterers. They spend heavily on Fresh at 11,993 and Frozen at 3,278, but almost nothing on Detergents — only 426 — and very little on packaged Grocery. That is the signature of a food-service business: they cook with ingredients, they don't stock retail shelves."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"Based on these three profiles, we propose three distinct business strategies.</a:t>
            </a:r>
          </a:p>
          <a:p>
            <a:r>
              <a:rPr lang="en-US"/>
              <a:t/>
            </a:r>
          </a:p>
          <a:p>
            <a:r>
              <a:rPr lang="en-US"/>
              <a:t/>
            </a:r>
          </a:p>
          <a:p>
            <a:r>
              <a:rPr lang="en-US"/>
              <a:t>For Cluster 3, the Restaurants: they depend on fresh, perishable ingredients every day. The recommendation is to offer dynamic daily delivery contracts — reliability and speed matter more than price for this group.</a:t>
            </a:r>
          </a:p>
          <a:p>
            <a:r>
              <a:rPr lang="en-US"/>
              <a:t/>
            </a:r>
          </a:p>
          <a:p>
            <a:r>
              <a:rPr lang="en-US"/>
              <a:t/>
            </a:r>
          </a:p>
          <a:p>
            <a:r>
              <a:rPr lang="en-US"/>
              <a:t>For Cluster 1, the Supermarkets: they buy non-perishables in large, predictable volumes. The recommendation is to negotiate long-term bulk contracts — they value price stability and supply consistency.</a:t>
            </a:r>
          </a:p>
          <a:p>
            <a:r>
              <a:rPr lang="en-US"/>
              <a:t/>
            </a:r>
          </a:p>
          <a:p>
            <a:r>
              <a:rPr lang="en-US"/>
              <a:t/>
            </a:r>
          </a:p>
          <a:p>
            <a:r>
              <a:rPr lang="en-US"/>
              <a:t>For Cluster 2, the Premium Buyers: they spend the most and buy across all categories. The recommendation is to upsell high-margin specialty items — farm-to-table products, premium brands — and assign dedicated account managers. These clients generate the most revenue and deserve the most attention."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 conclude: we started with a complex, 6-dimensional dataset of 440 wholesale customers. Through log transformation and standardization, we cleaned the data. Through PCA, we reduced it to 2 interpretable dimensions while keeping 71.3% of the information. Through K-Means with K=3, validated by the Elbow Method, we discovered three distinct and well-separated customer groups. And finally, we translated those mathematical groups into real business profiles with concrete, actionable recommendations.</a:t>
            </a:r>
          </a:p>
          <a:p>
            <a:r>
              <a:rPr lang="en-US"/>
              <a:t/>
            </a:r>
          </a:p>
          <a:p>
            <a:r>
              <a:rPr lang="en-US"/>
              <a:t/>
            </a:r>
          </a:p>
          <a:p>
            <a:r>
              <a:rPr lang="en-US"/>
              <a:t>This is not just a statistical exercise — it is a decision-support tool that a real wholesale company could use to serve their clients more intelligently."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4.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5.jpe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8.jpeg" Type="http://schemas.openxmlformats.org/officeDocument/2006/relationships/image"/><Relationship Id="rId4" Target="../media/image9.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0.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1.png" Type="http://schemas.openxmlformats.org/officeDocument/2006/relationships/image"/><Relationship Id="rId4" Target="../media/image12.svg" Type="http://schemas.openxmlformats.org/officeDocument/2006/relationships/image"/><Relationship Id="rId5" Target="../media/image13.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6.png" Type="http://schemas.openxmlformats.org/officeDocument/2006/relationships/image"/><Relationship Id="rId4" Target="../media/image7.svg" Type="http://schemas.openxmlformats.org/officeDocument/2006/relationships/image"/><Relationship Id="rId5" Target="../media/image14.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5.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7.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6.png" Type="http://schemas.openxmlformats.org/officeDocument/2006/relationships/image"/><Relationship Id="rId4" Target="../media/image7.svg" Type="http://schemas.openxmlformats.org/officeDocument/2006/relationships/image"/><Relationship Id="rId5" Target="../media/image18.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19.png" Type="http://schemas.openxmlformats.org/officeDocument/2006/relationships/image"/><Relationship Id="rId4" Target="../media/image20.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6.png" Type="http://schemas.openxmlformats.org/officeDocument/2006/relationships/image"/><Relationship Id="rId4" Target="../media/image7.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110514" y="0"/>
            <a:ext cx="26266381" cy="10643784"/>
            <a:chOff x="0" y="0"/>
            <a:chExt cx="1057720" cy="428614"/>
          </a:xfrm>
        </p:grpSpPr>
        <p:sp>
          <p:nvSpPr>
            <p:cNvPr name="Freeform 3" id="3"/>
            <p:cNvSpPr/>
            <p:nvPr/>
          </p:nvSpPr>
          <p:spPr>
            <a:xfrm flipH="false" flipV="false" rot="0">
              <a:off x="0" y="0"/>
              <a:ext cx="1057720" cy="428614"/>
            </a:xfrm>
            <a:custGeom>
              <a:avLst/>
              <a:gdLst/>
              <a:ahLst/>
              <a:cxnLst/>
              <a:rect r="r" b="b" t="t" l="l"/>
              <a:pathLst>
                <a:path h="428614" w="1057720">
                  <a:moveTo>
                    <a:pt x="0" y="0"/>
                  </a:moveTo>
                  <a:lnTo>
                    <a:pt x="1057720" y="0"/>
                  </a:lnTo>
                  <a:lnTo>
                    <a:pt x="1057720" y="428614"/>
                  </a:lnTo>
                  <a:lnTo>
                    <a:pt x="0" y="428614"/>
                  </a:lnTo>
                  <a:close/>
                </a:path>
              </a:pathLst>
            </a:custGeom>
            <a:blipFill>
              <a:blip r:embed="rId3"/>
              <a:stretch>
                <a:fillRect l="0" t="-32361" r="0" b="-32361"/>
              </a:stretch>
            </a:blipFill>
          </p:spPr>
        </p:sp>
      </p:grpSp>
      <p:sp>
        <p:nvSpPr>
          <p:cNvPr name="AutoShape 4" id="4"/>
          <p:cNvSpPr/>
          <p:nvPr/>
        </p:nvSpPr>
        <p:spPr>
          <a:xfrm>
            <a:off x="8555068" y="9260106"/>
            <a:ext cx="9760066" cy="0"/>
          </a:xfrm>
          <a:prstGeom prst="line">
            <a:avLst/>
          </a:prstGeom>
          <a:ln cap="flat" w="9525">
            <a:solidFill>
              <a:srgbClr val="FFFFFF"/>
            </a:solidFill>
            <a:prstDash val="solid"/>
            <a:headEnd type="none" len="sm" w="sm"/>
            <a:tailEnd type="none" len="sm" w="sm"/>
          </a:ln>
        </p:spPr>
      </p:sp>
      <p:sp>
        <p:nvSpPr>
          <p:cNvPr name="Freeform 5" id="5"/>
          <p:cNvSpPr/>
          <p:nvPr/>
        </p:nvSpPr>
        <p:spPr>
          <a:xfrm flipH="false" flipV="false" rot="0">
            <a:off x="10800942" y="1213568"/>
            <a:ext cx="1037232" cy="1118584"/>
          </a:xfrm>
          <a:custGeom>
            <a:avLst/>
            <a:gdLst/>
            <a:ahLst/>
            <a:cxnLst/>
            <a:rect r="r" b="b" t="t" l="l"/>
            <a:pathLst>
              <a:path h="1118584" w="1037232">
                <a:moveTo>
                  <a:pt x="0" y="0"/>
                </a:moveTo>
                <a:lnTo>
                  <a:pt x="1037232" y="0"/>
                </a:lnTo>
                <a:lnTo>
                  <a:pt x="1037232" y="1118584"/>
                </a:lnTo>
                <a:lnTo>
                  <a:pt x="0" y="111858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0">
            <a:off x="14936660" y="47625"/>
            <a:ext cx="3172080" cy="3172080"/>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6"/>
              <a:stretch>
                <a:fillRect l="-1620" t="0" r="-1620" b="0"/>
              </a:stretch>
            </a:blipFill>
          </p:spPr>
        </p:sp>
      </p:grpSp>
      <p:sp>
        <p:nvSpPr>
          <p:cNvPr name="TextBox 8" id="8"/>
          <p:cNvSpPr txBox="true"/>
          <p:nvPr/>
        </p:nvSpPr>
        <p:spPr>
          <a:xfrm rot="0">
            <a:off x="351494" y="228600"/>
            <a:ext cx="9818772" cy="4901016"/>
          </a:xfrm>
          <a:prstGeom prst="rect">
            <a:avLst/>
          </a:prstGeom>
        </p:spPr>
        <p:txBody>
          <a:bodyPr anchor="t" rtlCol="false" tIns="0" lIns="0" bIns="0" rIns="0">
            <a:spAutoFit/>
          </a:bodyPr>
          <a:lstStyle/>
          <a:p>
            <a:pPr algn="ctr">
              <a:lnSpc>
                <a:spcPts val="9578"/>
              </a:lnSpc>
            </a:pPr>
            <a:r>
              <a:rPr lang="en-US" b="true" sz="9578" spc="134">
                <a:solidFill>
                  <a:srgbClr val="FFFFFF"/>
                </a:solidFill>
                <a:latin typeface="Bricolage Grotesque Bold"/>
                <a:ea typeface="Bricolage Grotesque Bold"/>
                <a:cs typeface="Bricolage Grotesque Bold"/>
                <a:sym typeface="Bricolage Grotesque Bold"/>
              </a:rPr>
              <a:t>Customer Segmentation via Multivariate Analysis</a:t>
            </a:r>
          </a:p>
        </p:txBody>
      </p:sp>
      <p:sp>
        <p:nvSpPr>
          <p:cNvPr name="TextBox 9" id="9"/>
          <p:cNvSpPr txBox="true"/>
          <p:nvPr/>
        </p:nvSpPr>
        <p:spPr>
          <a:xfrm rot="0">
            <a:off x="1150023" y="5245692"/>
            <a:ext cx="7993977" cy="1261110"/>
          </a:xfrm>
          <a:prstGeom prst="rect">
            <a:avLst/>
          </a:prstGeom>
        </p:spPr>
        <p:txBody>
          <a:bodyPr anchor="t" rtlCol="false" tIns="0" lIns="0" bIns="0" rIns="0">
            <a:spAutoFit/>
          </a:bodyPr>
          <a:lstStyle/>
          <a:p>
            <a:pPr algn="ctr">
              <a:lnSpc>
                <a:spcPts val="5040"/>
              </a:lnSpc>
              <a:spcBef>
                <a:spcPct val="0"/>
              </a:spcBef>
            </a:pPr>
            <a:r>
              <a:rPr lang="en-US" sz="3600" spc="39">
                <a:solidFill>
                  <a:srgbClr val="FFFFFF"/>
                </a:solidFill>
                <a:latin typeface="Bricolage Grotesque Light"/>
                <a:ea typeface="Bricolage Grotesque Light"/>
                <a:cs typeface="Bricolage Grotesque Light"/>
                <a:sym typeface="Bricolage Grotesque Light"/>
              </a:rPr>
              <a:t>Extracting Business Profiles using PCA and K-Means</a:t>
            </a:r>
          </a:p>
        </p:txBody>
      </p:sp>
      <p:sp>
        <p:nvSpPr>
          <p:cNvPr name="TextBox 10" id="10"/>
          <p:cNvSpPr txBox="true"/>
          <p:nvPr/>
        </p:nvSpPr>
        <p:spPr>
          <a:xfrm rot="0">
            <a:off x="351494" y="8200493"/>
            <a:ext cx="7993977" cy="1261110"/>
          </a:xfrm>
          <a:prstGeom prst="rect">
            <a:avLst/>
          </a:prstGeom>
        </p:spPr>
        <p:txBody>
          <a:bodyPr anchor="t" rtlCol="false" tIns="0" lIns="0" bIns="0" rIns="0">
            <a:spAutoFit/>
          </a:bodyPr>
          <a:lstStyle/>
          <a:p>
            <a:pPr algn="ctr">
              <a:lnSpc>
                <a:spcPts val="5040"/>
              </a:lnSpc>
            </a:pPr>
            <a:r>
              <a:rPr lang="en-US" sz="3600" spc="39">
                <a:solidFill>
                  <a:srgbClr val="FFFFFF"/>
                </a:solidFill>
                <a:latin typeface="Bricolage Grotesque Light"/>
                <a:ea typeface="Bricolage Grotesque Light"/>
                <a:cs typeface="Bricolage Grotesque Light"/>
                <a:sym typeface="Bricolage Grotesque Light"/>
              </a:rPr>
              <a:t>Presented By:</a:t>
            </a:r>
          </a:p>
          <a:p>
            <a:pPr algn="ctr">
              <a:lnSpc>
                <a:spcPts val="5040"/>
              </a:lnSpc>
              <a:spcBef>
                <a:spcPct val="0"/>
              </a:spcBef>
            </a:pPr>
            <a:r>
              <a:rPr lang="en-US" sz="3600" spc="39">
                <a:solidFill>
                  <a:srgbClr val="FFFFFF"/>
                </a:solidFill>
                <a:latin typeface="Bricolage Grotesque Light"/>
                <a:ea typeface="Bricolage Grotesque Light"/>
                <a:cs typeface="Bricolage Grotesque Light"/>
                <a:sym typeface="Bricolage Grotesque Light"/>
              </a:rPr>
              <a:t>Oussama Ferchichi &amp; Khaled Briki</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7EBEC"/>
        </a:solidFill>
      </p:bgPr>
    </p:bg>
    <p:spTree>
      <p:nvGrpSpPr>
        <p:cNvPr id="1" name=""/>
        <p:cNvGrpSpPr/>
        <p:nvPr/>
      </p:nvGrpSpPr>
      <p:grpSpPr>
        <a:xfrm>
          <a:off x="0" y="0"/>
          <a:ext cx="0" cy="0"/>
          <a:chOff x="0" y="0"/>
          <a:chExt cx="0" cy="0"/>
        </a:xfrm>
      </p:grpSpPr>
      <p:grpSp>
        <p:nvGrpSpPr>
          <p:cNvPr name="Group 2" id="2"/>
          <p:cNvGrpSpPr/>
          <p:nvPr/>
        </p:nvGrpSpPr>
        <p:grpSpPr>
          <a:xfrm rot="0">
            <a:off x="10892245" y="1885403"/>
            <a:ext cx="6841948" cy="5384506"/>
            <a:chOff x="0" y="0"/>
            <a:chExt cx="1364455" cy="1073805"/>
          </a:xfrm>
        </p:grpSpPr>
        <p:sp>
          <p:nvSpPr>
            <p:cNvPr name="Freeform 3" id="3"/>
            <p:cNvSpPr/>
            <p:nvPr/>
          </p:nvSpPr>
          <p:spPr>
            <a:xfrm flipH="false" flipV="false" rot="0">
              <a:off x="0" y="0"/>
              <a:ext cx="1364455" cy="1073805"/>
            </a:xfrm>
            <a:custGeom>
              <a:avLst/>
              <a:gdLst/>
              <a:ahLst/>
              <a:cxnLst/>
              <a:rect r="r" b="b" t="t" l="l"/>
              <a:pathLst>
                <a:path h="1073805" w="1364455">
                  <a:moveTo>
                    <a:pt x="0" y="0"/>
                  </a:moveTo>
                  <a:lnTo>
                    <a:pt x="1364455" y="0"/>
                  </a:lnTo>
                  <a:lnTo>
                    <a:pt x="1364455" y="1073805"/>
                  </a:lnTo>
                  <a:lnTo>
                    <a:pt x="0" y="1073805"/>
                  </a:lnTo>
                  <a:close/>
                </a:path>
              </a:pathLst>
            </a:custGeom>
            <a:blipFill>
              <a:blip r:embed="rId3"/>
              <a:stretch>
                <a:fillRect l="-10821" t="0" r="-7226" b="0"/>
              </a:stretch>
            </a:blipFill>
          </p:spPr>
        </p:sp>
      </p:grpSp>
      <p:sp>
        <p:nvSpPr>
          <p:cNvPr name="TextBox 4" id="4"/>
          <p:cNvSpPr txBox="true"/>
          <p:nvPr/>
        </p:nvSpPr>
        <p:spPr>
          <a:xfrm rot="0">
            <a:off x="554605" y="1380016"/>
            <a:ext cx="7883391" cy="885317"/>
          </a:xfrm>
          <a:prstGeom prst="rect">
            <a:avLst/>
          </a:prstGeom>
        </p:spPr>
        <p:txBody>
          <a:bodyPr anchor="t" rtlCol="false" tIns="0" lIns="0" bIns="0" rIns="0">
            <a:spAutoFit/>
          </a:bodyPr>
          <a:lstStyle/>
          <a:p>
            <a:pPr algn="l">
              <a:lnSpc>
                <a:spcPts val="6783"/>
              </a:lnSpc>
            </a:pPr>
            <a:r>
              <a:rPr lang="en-US" sz="6399" b="true">
                <a:solidFill>
                  <a:srgbClr val="323232"/>
                </a:solidFill>
                <a:latin typeface="Bricolage Grotesque Bold"/>
                <a:ea typeface="Bricolage Grotesque Bold"/>
                <a:cs typeface="Bricolage Grotesque Bold"/>
                <a:sym typeface="Bricolage Grotesque Bold"/>
              </a:rPr>
              <a:t>Project Objectives</a:t>
            </a:r>
          </a:p>
        </p:txBody>
      </p:sp>
      <p:sp>
        <p:nvSpPr>
          <p:cNvPr name="TextBox 5" id="5"/>
          <p:cNvSpPr txBox="true"/>
          <p:nvPr/>
        </p:nvSpPr>
        <p:spPr>
          <a:xfrm rot="0">
            <a:off x="85695" y="3904988"/>
            <a:ext cx="9456840" cy="455295"/>
          </a:xfrm>
          <a:prstGeom prst="rect">
            <a:avLst/>
          </a:prstGeom>
        </p:spPr>
        <p:txBody>
          <a:bodyPr anchor="t" rtlCol="false" tIns="0" lIns="0" bIns="0" rIns="0">
            <a:spAutoFit/>
          </a:bodyPr>
          <a:lstStyle/>
          <a:p>
            <a:pPr algn="l">
              <a:lnSpc>
                <a:spcPts val="3779"/>
              </a:lnSpc>
              <a:spcBef>
                <a:spcPct val="0"/>
              </a:spcBef>
            </a:pPr>
            <a:r>
              <a:rPr lang="en-US" b="true" sz="2699">
                <a:solidFill>
                  <a:srgbClr val="000000"/>
                </a:solidFill>
                <a:latin typeface="Bricolage Grotesque Bold"/>
                <a:ea typeface="Bricolage Grotesque Bold"/>
                <a:cs typeface="Bricolage Grotesque Bold"/>
                <a:sym typeface="Bricolage Grotesque Bold"/>
              </a:rPr>
              <a:t>Analyze multidimensional wholesale spending behavior.</a:t>
            </a:r>
          </a:p>
        </p:txBody>
      </p:sp>
      <p:sp>
        <p:nvSpPr>
          <p:cNvPr name="TextBox 6" id="6"/>
          <p:cNvSpPr txBox="true"/>
          <p:nvPr/>
        </p:nvSpPr>
        <p:spPr>
          <a:xfrm rot="0">
            <a:off x="95220" y="5325510"/>
            <a:ext cx="9456840" cy="931545"/>
          </a:xfrm>
          <a:prstGeom prst="rect">
            <a:avLst/>
          </a:prstGeom>
        </p:spPr>
        <p:txBody>
          <a:bodyPr anchor="t" rtlCol="false" tIns="0" lIns="0" bIns="0" rIns="0">
            <a:spAutoFit/>
          </a:bodyPr>
          <a:lstStyle/>
          <a:p>
            <a:pPr algn="l">
              <a:lnSpc>
                <a:spcPts val="3779"/>
              </a:lnSpc>
              <a:spcBef>
                <a:spcPct val="0"/>
              </a:spcBef>
            </a:pPr>
            <a:r>
              <a:rPr lang="en-US" b="true" sz="2699">
                <a:solidFill>
                  <a:srgbClr val="000000"/>
                </a:solidFill>
                <a:latin typeface="Bricolage Grotesque Bold"/>
                <a:ea typeface="Bricolage Grotesque Bold"/>
                <a:cs typeface="Bricolage Grotesque Bold"/>
                <a:sym typeface="Bricolage Grotesque Bold"/>
              </a:rPr>
              <a:t>Reduce data complexity using Principal Component Analysis (PCA).</a:t>
            </a:r>
          </a:p>
        </p:txBody>
      </p:sp>
      <p:sp>
        <p:nvSpPr>
          <p:cNvPr name="TextBox 7" id="7"/>
          <p:cNvSpPr txBox="true"/>
          <p:nvPr/>
        </p:nvSpPr>
        <p:spPr>
          <a:xfrm rot="0">
            <a:off x="95220" y="7222283"/>
            <a:ext cx="9456840" cy="931545"/>
          </a:xfrm>
          <a:prstGeom prst="rect">
            <a:avLst/>
          </a:prstGeom>
        </p:spPr>
        <p:txBody>
          <a:bodyPr anchor="t" rtlCol="false" tIns="0" lIns="0" bIns="0" rIns="0">
            <a:spAutoFit/>
          </a:bodyPr>
          <a:lstStyle/>
          <a:p>
            <a:pPr algn="l">
              <a:lnSpc>
                <a:spcPts val="3779"/>
              </a:lnSpc>
              <a:spcBef>
                <a:spcPct val="0"/>
              </a:spcBef>
            </a:pPr>
            <a:r>
              <a:rPr lang="en-US" b="true" sz="2699">
                <a:solidFill>
                  <a:srgbClr val="000000"/>
                </a:solidFill>
                <a:latin typeface="Bricolage Grotesque Bold"/>
                <a:ea typeface="Bricolage Grotesque Bold"/>
                <a:cs typeface="Bricolage Grotesque Bold"/>
                <a:sym typeface="Bricolage Grotesque Bold"/>
              </a:rPr>
              <a:t>Identify distinct, actionable customer profiles using K-Means Clustering.</a:t>
            </a:r>
          </a:p>
        </p:txBody>
      </p:sp>
      <p:sp>
        <p:nvSpPr>
          <p:cNvPr name="Freeform 8" id="8"/>
          <p:cNvSpPr/>
          <p:nvPr/>
        </p:nvSpPr>
        <p:spPr>
          <a:xfrm flipH="false" flipV="false" rot="0">
            <a:off x="8291387" y="1294291"/>
            <a:ext cx="1037232" cy="1118584"/>
          </a:xfrm>
          <a:custGeom>
            <a:avLst/>
            <a:gdLst/>
            <a:ahLst/>
            <a:cxnLst/>
            <a:rect r="r" b="b" t="t" l="l"/>
            <a:pathLst>
              <a:path h="1118584" w="1037232">
                <a:moveTo>
                  <a:pt x="0" y="0"/>
                </a:moveTo>
                <a:lnTo>
                  <a:pt x="1037232" y="0"/>
                </a:lnTo>
                <a:lnTo>
                  <a:pt x="1037232" y="1118584"/>
                </a:lnTo>
                <a:lnTo>
                  <a:pt x="0" y="111858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900847" y="0"/>
            <a:ext cx="7387153" cy="6206530"/>
          </a:xfrm>
          <a:custGeom>
            <a:avLst/>
            <a:gdLst/>
            <a:ahLst/>
            <a:cxnLst/>
            <a:rect r="r" b="b" t="t" l="l"/>
            <a:pathLst>
              <a:path h="6206530" w="7387153">
                <a:moveTo>
                  <a:pt x="0" y="0"/>
                </a:moveTo>
                <a:lnTo>
                  <a:pt x="7387153" y="0"/>
                </a:lnTo>
                <a:lnTo>
                  <a:pt x="7387153" y="6206530"/>
                </a:lnTo>
                <a:lnTo>
                  <a:pt x="0" y="6206530"/>
                </a:lnTo>
                <a:lnTo>
                  <a:pt x="0" y="0"/>
                </a:lnTo>
                <a:close/>
              </a:path>
            </a:pathLst>
          </a:custGeom>
          <a:blipFill>
            <a:blip r:embed="rId3">
              <a:alphaModFix amt="72000"/>
            </a:blip>
            <a:stretch>
              <a:fillRect l="-638" t="-14842" r="-638" b="-65744"/>
            </a:stretch>
          </a:blipFill>
        </p:spPr>
      </p:sp>
      <p:sp>
        <p:nvSpPr>
          <p:cNvPr name="Freeform 3" id="3"/>
          <p:cNvSpPr/>
          <p:nvPr/>
        </p:nvSpPr>
        <p:spPr>
          <a:xfrm flipH="false" flipV="false" rot="0">
            <a:off x="3584084" y="6463705"/>
            <a:ext cx="11010340" cy="3561713"/>
          </a:xfrm>
          <a:custGeom>
            <a:avLst/>
            <a:gdLst/>
            <a:ahLst/>
            <a:cxnLst/>
            <a:rect r="r" b="b" t="t" l="l"/>
            <a:pathLst>
              <a:path h="3561713" w="11010340">
                <a:moveTo>
                  <a:pt x="0" y="0"/>
                </a:moveTo>
                <a:lnTo>
                  <a:pt x="11010339" y="0"/>
                </a:lnTo>
                <a:lnTo>
                  <a:pt x="11010339" y="3561713"/>
                </a:lnTo>
                <a:lnTo>
                  <a:pt x="0" y="3561713"/>
                </a:lnTo>
                <a:lnTo>
                  <a:pt x="0" y="0"/>
                </a:lnTo>
                <a:close/>
              </a:path>
            </a:pathLst>
          </a:custGeom>
          <a:blipFill>
            <a:blip r:embed="rId4"/>
            <a:stretch>
              <a:fillRect l="0" t="0" r="0" b="0"/>
            </a:stretch>
          </a:blipFill>
        </p:spPr>
      </p:sp>
      <p:sp>
        <p:nvSpPr>
          <p:cNvPr name="TextBox 4" id="4"/>
          <p:cNvSpPr txBox="true"/>
          <p:nvPr/>
        </p:nvSpPr>
        <p:spPr>
          <a:xfrm rot="0">
            <a:off x="1175309" y="1354716"/>
            <a:ext cx="8612218" cy="909955"/>
          </a:xfrm>
          <a:prstGeom prst="rect">
            <a:avLst/>
          </a:prstGeom>
        </p:spPr>
        <p:txBody>
          <a:bodyPr anchor="t" rtlCol="false" tIns="0" lIns="0" bIns="0" rIns="0">
            <a:spAutoFit/>
          </a:bodyPr>
          <a:lstStyle/>
          <a:p>
            <a:pPr algn="ctr">
              <a:lnSpc>
                <a:spcPts val="7039"/>
              </a:lnSpc>
            </a:pPr>
            <a:r>
              <a:rPr lang="en-US" b="true" sz="6399">
                <a:solidFill>
                  <a:srgbClr val="000000"/>
                </a:solidFill>
                <a:latin typeface="Bricolage Grotesque Bold"/>
                <a:ea typeface="Bricolage Grotesque Bold"/>
                <a:cs typeface="Bricolage Grotesque Bold"/>
                <a:sym typeface="Bricolage Grotesque Bold"/>
              </a:rPr>
              <a:t>Dataset Overview</a:t>
            </a:r>
          </a:p>
        </p:txBody>
      </p:sp>
      <p:sp>
        <p:nvSpPr>
          <p:cNvPr name="TextBox 5" id="5"/>
          <p:cNvSpPr txBox="true"/>
          <p:nvPr/>
        </p:nvSpPr>
        <p:spPr>
          <a:xfrm rot="0">
            <a:off x="704601" y="2947055"/>
            <a:ext cx="8439399" cy="398145"/>
          </a:xfrm>
          <a:prstGeom prst="rect">
            <a:avLst/>
          </a:prstGeom>
        </p:spPr>
        <p:txBody>
          <a:bodyPr anchor="t" rtlCol="false" tIns="0" lIns="0" bIns="0" rIns="0">
            <a:spAutoFit/>
          </a:bodyPr>
          <a:lstStyle/>
          <a:p>
            <a:pPr algn="l" marL="0" indent="0" lvl="0">
              <a:lnSpc>
                <a:spcPts val="2880"/>
              </a:lnSpc>
              <a:spcBef>
                <a:spcPct val="0"/>
              </a:spcBef>
            </a:pPr>
            <a:r>
              <a:rPr lang="en-US" sz="3200" strike="noStrike" u="none">
                <a:solidFill>
                  <a:srgbClr val="000000"/>
                </a:solidFill>
                <a:latin typeface="Bricolage Grotesque"/>
                <a:ea typeface="Bricolage Grotesque"/>
                <a:cs typeface="Bricolage Grotesque"/>
                <a:sym typeface="Bricolage Grotesque"/>
              </a:rPr>
              <a:t>S</a:t>
            </a:r>
            <a:r>
              <a:rPr lang="en-US" sz="3200" strike="noStrike" u="none">
                <a:solidFill>
                  <a:srgbClr val="000000"/>
                </a:solidFill>
                <a:latin typeface="Bricolage Grotesque"/>
                <a:ea typeface="Bricolage Grotesque"/>
                <a:cs typeface="Bricolage Grotesque"/>
                <a:sym typeface="Bricolage Grotesque"/>
              </a:rPr>
              <a:t>ou</a:t>
            </a:r>
            <a:r>
              <a:rPr lang="en-US" sz="3200" strike="noStrike" u="none">
                <a:solidFill>
                  <a:srgbClr val="000000"/>
                </a:solidFill>
                <a:latin typeface="Bricolage Grotesque"/>
                <a:ea typeface="Bricolage Grotesque"/>
                <a:cs typeface="Bricolage Grotesque"/>
                <a:sym typeface="Bricolage Grotesque"/>
              </a:rPr>
              <a:t>r</a:t>
            </a:r>
            <a:r>
              <a:rPr lang="en-US" sz="3200" strike="noStrike" u="none">
                <a:solidFill>
                  <a:srgbClr val="000000"/>
                </a:solidFill>
                <a:latin typeface="Bricolage Grotesque"/>
                <a:ea typeface="Bricolage Grotesque"/>
                <a:cs typeface="Bricolage Grotesque"/>
                <a:sym typeface="Bricolage Grotesque"/>
              </a:rPr>
              <a:t>ce: UCI M</a:t>
            </a:r>
            <a:r>
              <a:rPr lang="en-US" sz="3200" strike="noStrike" u="none">
                <a:solidFill>
                  <a:srgbClr val="000000"/>
                </a:solidFill>
                <a:latin typeface="Bricolage Grotesque"/>
                <a:ea typeface="Bricolage Grotesque"/>
                <a:cs typeface="Bricolage Grotesque"/>
                <a:sym typeface="Bricolage Grotesque"/>
              </a:rPr>
              <a:t>a</a:t>
            </a:r>
            <a:r>
              <a:rPr lang="en-US" sz="3200" strike="noStrike" u="none">
                <a:solidFill>
                  <a:srgbClr val="000000"/>
                </a:solidFill>
                <a:latin typeface="Bricolage Grotesque"/>
                <a:ea typeface="Bricolage Grotesque"/>
                <a:cs typeface="Bricolage Grotesque"/>
                <a:sym typeface="Bricolage Grotesque"/>
              </a:rPr>
              <a:t>chin</a:t>
            </a:r>
            <a:r>
              <a:rPr lang="en-US" sz="3200" strike="noStrike" u="none">
                <a:solidFill>
                  <a:srgbClr val="000000"/>
                </a:solidFill>
                <a:latin typeface="Bricolage Grotesque"/>
                <a:ea typeface="Bricolage Grotesque"/>
                <a:cs typeface="Bricolage Grotesque"/>
                <a:sym typeface="Bricolage Grotesque"/>
              </a:rPr>
              <a:t>e </a:t>
            </a:r>
            <a:r>
              <a:rPr lang="en-US" sz="3200" strike="noStrike" u="none">
                <a:solidFill>
                  <a:srgbClr val="000000"/>
                </a:solidFill>
                <a:latin typeface="Bricolage Grotesque"/>
                <a:ea typeface="Bricolage Grotesque"/>
                <a:cs typeface="Bricolage Grotesque"/>
                <a:sym typeface="Bricolage Grotesque"/>
              </a:rPr>
              <a:t>Le</a:t>
            </a:r>
            <a:r>
              <a:rPr lang="en-US" sz="3200" strike="noStrike" u="none">
                <a:solidFill>
                  <a:srgbClr val="000000"/>
                </a:solidFill>
                <a:latin typeface="Bricolage Grotesque"/>
                <a:ea typeface="Bricolage Grotesque"/>
                <a:cs typeface="Bricolage Grotesque"/>
                <a:sym typeface="Bricolage Grotesque"/>
              </a:rPr>
              <a:t>a</a:t>
            </a:r>
            <a:r>
              <a:rPr lang="en-US" sz="3200" strike="noStrike" u="none">
                <a:solidFill>
                  <a:srgbClr val="000000"/>
                </a:solidFill>
                <a:latin typeface="Bricolage Grotesque"/>
                <a:ea typeface="Bricolage Grotesque"/>
                <a:cs typeface="Bricolage Grotesque"/>
                <a:sym typeface="Bricolage Grotesque"/>
              </a:rPr>
              <a:t>r</a:t>
            </a:r>
            <a:r>
              <a:rPr lang="en-US" sz="3200" strike="noStrike" u="none">
                <a:solidFill>
                  <a:srgbClr val="000000"/>
                </a:solidFill>
                <a:latin typeface="Bricolage Grotesque"/>
                <a:ea typeface="Bricolage Grotesque"/>
                <a:cs typeface="Bricolage Grotesque"/>
                <a:sym typeface="Bricolage Grotesque"/>
              </a:rPr>
              <a:t>ning</a:t>
            </a:r>
            <a:r>
              <a:rPr lang="en-US" sz="3200" strike="noStrike" u="none">
                <a:solidFill>
                  <a:srgbClr val="000000"/>
                </a:solidFill>
                <a:latin typeface="Bricolage Grotesque"/>
                <a:ea typeface="Bricolage Grotesque"/>
                <a:cs typeface="Bricolage Grotesque"/>
                <a:sym typeface="Bricolage Grotesque"/>
              </a:rPr>
              <a:t> Repository</a:t>
            </a:r>
          </a:p>
        </p:txBody>
      </p:sp>
      <p:sp>
        <p:nvSpPr>
          <p:cNvPr name="TextBox 6" id="6"/>
          <p:cNvSpPr txBox="true"/>
          <p:nvPr/>
        </p:nvSpPr>
        <p:spPr>
          <a:xfrm rot="0">
            <a:off x="704601" y="3735506"/>
            <a:ext cx="8439399" cy="398145"/>
          </a:xfrm>
          <a:prstGeom prst="rect">
            <a:avLst/>
          </a:prstGeom>
        </p:spPr>
        <p:txBody>
          <a:bodyPr anchor="t" rtlCol="false" tIns="0" lIns="0" bIns="0" rIns="0">
            <a:spAutoFit/>
          </a:bodyPr>
          <a:lstStyle/>
          <a:p>
            <a:pPr algn="l" marL="0" indent="0" lvl="0">
              <a:lnSpc>
                <a:spcPts val="2880"/>
              </a:lnSpc>
              <a:spcBef>
                <a:spcPct val="0"/>
              </a:spcBef>
            </a:pPr>
            <a:r>
              <a:rPr lang="en-US" sz="3200" strike="noStrike" u="none">
                <a:solidFill>
                  <a:srgbClr val="000000"/>
                </a:solidFill>
                <a:latin typeface="Bricolage Grotesque"/>
                <a:ea typeface="Bricolage Grotesque"/>
                <a:cs typeface="Bricolage Grotesque"/>
                <a:sym typeface="Bricolage Grotesque"/>
              </a:rPr>
              <a:t>Size:</a:t>
            </a:r>
            <a:r>
              <a:rPr lang="en-US" sz="3200" strike="noStrike" u="none">
                <a:solidFill>
                  <a:srgbClr val="000000"/>
                </a:solidFill>
                <a:latin typeface="Bricolage Grotesque"/>
                <a:ea typeface="Bricolage Grotesque"/>
                <a:cs typeface="Bricolage Grotesque"/>
                <a:sym typeface="Bricolage Grotesque"/>
              </a:rPr>
              <a:t> 440</a:t>
            </a:r>
            <a:r>
              <a:rPr lang="en-US" sz="3200" strike="noStrike" u="none">
                <a:solidFill>
                  <a:srgbClr val="000000"/>
                </a:solidFill>
                <a:latin typeface="Bricolage Grotesque"/>
                <a:ea typeface="Bricolage Grotesque"/>
                <a:cs typeface="Bricolage Grotesque"/>
                <a:sym typeface="Bricolage Grotesque"/>
              </a:rPr>
              <a:t> C</a:t>
            </a:r>
            <a:r>
              <a:rPr lang="en-US" sz="3200" strike="noStrike" u="none">
                <a:solidFill>
                  <a:srgbClr val="000000"/>
                </a:solidFill>
                <a:latin typeface="Bricolage Grotesque"/>
                <a:ea typeface="Bricolage Grotesque"/>
                <a:cs typeface="Bricolage Grotesque"/>
                <a:sym typeface="Bricolage Grotesque"/>
              </a:rPr>
              <a:t>ustomers</a:t>
            </a:r>
            <a:r>
              <a:rPr lang="en-US" sz="3200" strike="noStrike" u="none">
                <a:solidFill>
                  <a:srgbClr val="000000"/>
                </a:solidFill>
                <a:latin typeface="Bricolage Grotesque"/>
                <a:ea typeface="Bricolage Grotesque"/>
                <a:cs typeface="Bricolage Grotesque"/>
                <a:sym typeface="Bricolage Grotesque"/>
              </a:rPr>
              <a:t> × 8 Variables</a:t>
            </a:r>
          </a:p>
        </p:txBody>
      </p:sp>
      <p:sp>
        <p:nvSpPr>
          <p:cNvPr name="TextBox 7" id="7"/>
          <p:cNvSpPr txBox="true"/>
          <p:nvPr/>
        </p:nvSpPr>
        <p:spPr>
          <a:xfrm rot="0">
            <a:off x="704601" y="4474781"/>
            <a:ext cx="8439399" cy="1356487"/>
          </a:xfrm>
          <a:prstGeom prst="rect">
            <a:avLst/>
          </a:prstGeom>
        </p:spPr>
        <p:txBody>
          <a:bodyPr anchor="t" rtlCol="false" tIns="0" lIns="0" bIns="0" rIns="0">
            <a:spAutoFit/>
          </a:bodyPr>
          <a:lstStyle/>
          <a:p>
            <a:pPr algn="l" marL="0" indent="0" lvl="0">
              <a:lnSpc>
                <a:spcPts val="3584"/>
              </a:lnSpc>
            </a:pPr>
            <a:r>
              <a:rPr lang="en-US" sz="3200">
                <a:solidFill>
                  <a:srgbClr val="000000"/>
                </a:solidFill>
                <a:latin typeface="Bricolage Grotesque"/>
                <a:ea typeface="Bricolage Grotesque"/>
                <a:cs typeface="Bricolage Grotesque"/>
                <a:sym typeface="Bricolage Grotesque"/>
              </a:rPr>
              <a:t>Focus</a:t>
            </a:r>
            <a:r>
              <a:rPr lang="en-US" sz="3200" strike="noStrike" u="none">
                <a:solidFill>
                  <a:srgbClr val="000000"/>
                </a:solidFill>
                <a:latin typeface="Bricolage Grotesque"/>
                <a:ea typeface="Bricolage Grotesque"/>
                <a:cs typeface="Bricolage Grotesque"/>
                <a:sym typeface="Bricolage Grotesque"/>
              </a:rPr>
              <a:t>: Annual </a:t>
            </a:r>
            <a:r>
              <a:rPr lang="en-US" sz="3200" strike="noStrike" u="none">
                <a:solidFill>
                  <a:srgbClr val="000000"/>
                </a:solidFill>
                <a:latin typeface="Bricolage Grotesque"/>
                <a:ea typeface="Bricolage Grotesque"/>
                <a:cs typeface="Bricolage Grotesque"/>
                <a:sym typeface="Bricolage Grotesque"/>
              </a:rPr>
              <a:t>spending</a:t>
            </a:r>
            <a:r>
              <a:rPr lang="en-US" sz="3200" strike="noStrike" u="none">
                <a:solidFill>
                  <a:srgbClr val="000000"/>
                </a:solidFill>
                <a:latin typeface="Bricolage Grotesque"/>
                <a:ea typeface="Bricolage Grotesque"/>
                <a:cs typeface="Bricolage Grotesque"/>
                <a:sym typeface="Bricolage Grotesque"/>
              </a:rPr>
              <a:t> (m.u</a:t>
            </a:r>
            <a:r>
              <a:rPr lang="en-US" sz="3200" strike="noStrike" u="none">
                <a:solidFill>
                  <a:srgbClr val="000000"/>
                </a:solidFill>
                <a:latin typeface="Bricolage Grotesque"/>
                <a:ea typeface="Bricolage Grotesque"/>
                <a:cs typeface="Bricolage Grotesque"/>
                <a:sym typeface="Bricolage Grotesque"/>
              </a:rPr>
              <a:t>.) acro</a:t>
            </a:r>
            <a:r>
              <a:rPr lang="en-US" sz="3200" strike="noStrike" u="none">
                <a:solidFill>
                  <a:srgbClr val="000000"/>
                </a:solidFill>
                <a:latin typeface="Bricolage Grotesque"/>
                <a:ea typeface="Bricolage Grotesque"/>
                <a:cs typeface="Bricolage Grotesque"/>
                <a:sym typeface="Bricolage Grotesque"/>
              </a:rPr>
              <a:t>s</a:t>
            </a:r>
            <a:r>
              <a:rPr lang="en-US" sz="3200" strike="noStrike" u="none">
                <a:solidFill>
                  <a:srgbClr val="000000"/>
                </a:solidFill>
                <a:latin typeface="Bricolage Grotesque"/>
                <a:ea typeface="Bricolage Grotesque"/>
                <a:cs typeface="Bricolage Grotesque"/>
                <a:sym typeface="Bricolage Grotesque"/>
              </a:rPr>
              <a:t>s 6 con</a:t>
            </a:r>
            <a:r>
              <a:rPr lang="en-US" sz="3200" strike="noStrike" u="none">
                <a:solidFill>
                  <a:srgbClr val="000000"/>
                </a:solidFill>
                <a:latin typeface="Bricolage Grotesque"/>
                <a:ea typeface="Bricolage Grotesque"/>
                <a:cs typeface="Bricolage Grotesque"/>
                <a:sym typeface="Bricolage Grotesque"/>
              </a:rPr>
              <a:t>t</a:t>
            </a:r>
            <a:r>
              <a:rPr lang="en-US" sz="3200" strike="noStrike" u="none">
                <a:solidFill>
                  <a:srgbClr val="000000"/>
                </a:solidFill>
                <a:latin typeface="Bricolage Grotesque"/>
                <a:ea typeface="Bricolage Grotesque"/>
                <a:cs typeface="Bricolage Grotesque"/>
                <a:sym typeface="Bricolage Grotesque"/>
              </a:rPr>
              <a:t>inu</a:t>
            </a:r>
            <a:r>
              <a:rPr lang="en-US" sz="3200" strike="noStrike" u="none">
                <a:solidFill>
                  <a:srgbClr val="000000"/>
                </a:solidFill>
                <a:latin typeface="Bricolage Grotesque"/>
                <a:ea typeface="Bricolage Grotesque"/>
                <a:cs typeface="Bricolage Grotesque"/>
                <a:sym typeface="Bricolage Grotesque"/>
              </a:rPr>
              <a:t>o</a:t>
            </a:r>
            <a:r>
              <a:rPr lang="en-US" sz="3200" strike="noStrike" u="none">
                <a:solidFill>
                  <a:srgbClr val="000000"/>
                </a:solidFill>
                <a:latin typeface="Bricolage Grotesque"/>
                <a:ea typeface="Bricolage Grotesque"/>
                <a:cs typeface="Bricolage Grotesque"/>
                <a:sym typeface="Bricolage Grotesque"/>
              </a:rPr>
              <a:t>us cat</a:t>
            </a:r>
            <a:r>
              <a:rPr lang="en-US" sz="3200" strike="noStrike" u="none">
                <a:solidFill>
                  <a:srgbClr val="000000"/>
                </a:solidFill>
                <a:latin typeface="Bricolage Grotesque"/>
                <a:ea typeface="Bricolage Grotesque"/>
                <a:cs typeface="Bricolage Grotesque"/>
                <a:sym typeface="Bricolage Grotesque"/>
              </a:rPr>
              <a:t>e</a:t>
            </a:r>
            <a:r>
              <a:rPr lang="en-US" sz="3200" strike="noStrike" u="none">
                <a:solidFill>
                  <a:srgbClr val="000000"/>
                </a:solidFill>
                <a:latin typeface="Bricolage Grotesque"/>
                <a:ea typeface="Bricolage Grotesque"/>
                <a:cs typeface="Bricolage Grotesque"/>
                <a:sym typeface="Bricolage Grotesque"/>
              </a:rPr>
              <a:t>go</a:t>
            </a:r>
            <a:r>
              <a:rPr lang="en-US" sz="3200" strike="noStrike" u="none">
                <a:solidFill>
                  <a:srgbClr val="000000"/>
                </a:solidFill>
                <a:latin typeface="Bricolage Grotesque"/>
                <a:ea typeface="Bricolage Grotesque"/>
                <a:cs typeface="Bricolage Grotesque"/>
                <a:sym typeface="Bricolage Grotesque"/>
              </a:rPr>
              <a:t>r</a:t>
            </a:r>
            <a:r>
              <a:rPr lang="en-US" sz="3200" strike="noStrike" u="none">
                <a:solidFill>
                  <a:srgbClr val="000000"/>
                </a:solidFill>
                <a:latin typeface="Bricolage Grotesque"/>
                <a:ea typeface="Bricolage Grotesque"/>
                <a:cs typeface="Bricolage Grotesque"/>
                <a:sym typeface="Bricolage Grotesque"/>
              </a:rPr>
              <a:t>ies: Fre</a:t>
            </a:r>
            <a:r>
              <a:rPr lang="en-US" sz="3200" strike="noStrike" u="none">
                <a:solidFill>
                  <a:srgbClr val="000000"/>
                </a:solidFill>
                <a:latin typeface="Bricolage Grotesque"/>
                <a:ea typeface="Bricolage Grotesque"/>
                <a:cs typeface="Bricolage Grotesque"/>
                <a:sym typeface="Bricolage Grotesque"/>
              </a:rPr>
              <a:t>s</a:t>
            </a:r>
            <a:r>
              <a:rPr lang="en-US" sz="3200" strike="noStrike" u="none">
                <a:solidFill>
                  <a:srgbClr val="000000"/>
                </a:solidFill>
                <a:latin typeface="Bricolage Grotesque"/>
                <a:ea typeface="Bricolage Grotesque"/>
                <a:cs typeface="Bricolage Grotesque"/>
                <a:sym typeface="Bricolage Grotesque"/>
              </a:rPr>
              <a:t>h,</a:t>
            </a:r>
            <a:r>
              <a:rPr lang="en-US" sz="3200" strike="noStrike" u="none">
                <a:solidFill>
                  <a:srgbClr val="000000"/>
                </a:solidFill>
                <a:latin typeface="Bricolage Grotesque"/>
                <a:ea typeface="Bricolage Grotesque"/>
                <a:cs typeface="Bricolage Grotesque"/>
                <a:sym typeface="Bricolage Grotesque"/>
              </a:rPr>
              <a:t> Milk, Grocery, Frozen, Detergents, Delicatessen.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CEFF1"/>
        </a:solidFill>
      </p:bgPr>
    </p:bg>
    <p:spTree>
      <p:nvGrpSpPr>
        <p:cNvPr id="1" name=""/>
        <p:cNvGrpSpPr/>
        <p:nvPr/>
      </p:nvGrpSpPr>
      <p:grpSpPr>
        <a:xfrm>
          <a:off x="0" y="0"/>
          <a:ext cx="0" cy="0"/>
          <a:chOff x="0" y="0"/>
          <a:chExt cx="0" cy="0"/>
        </a:xfrm>
      </p:grpSpPr>
      <p:sp>
        <p:nvSpPr>
          <p:cNvPr name="TextBox 2" id="2"/>
          <p:cNvSpPr txBox="true"/>
          <p:nvPr/>
        </p:nvSpPr>
        <p:spPr>
          <a:xfrm rot="0">
            <a:off x="706312" y="1380354"/>
            <a:ext cx="8084819" cy="971550"/>
          </a:xfrm>
          <a:prstGeom prst="rect">
            <a:avLst/>
          </a:prstGeom>
        </p:spPr>
        <p:txBody>
          <a:bodyPr anchor="t" rtlCol="false" tIns="0" lIns="0" bIns="0" rIns="0">
            <a:spAutoFit/>
          </a:bodyPr>
          <a:lstStyle/>
          <a:p>
            <a:pPr algn="l">
              <a:lnSpc>
                <a:spcPts val="7679"/>
              </a:lnSpc>
            </a:pPr>
            <a:r>
              <a:rPr lang="en-US" b="true" sz="6399">
                <a:solidFill>
                  <a:srgbClr val="323232"/>
                </a:solidFill>
                <a:latin typeface="Bricolage Grotesque Bold"/>
                <a:ea typeface="Bricolage Grotesque Bold"/>
                <a:cs typeface="Bricolage Grotesque Bold"/>
                <a:sym typeface="Bricolage Grotesque Bold"/>
              </a:rPr>
              <a:t>Data Preprocessing</a:t>
            </a:r>
          </a:p>
        </p:txBody>
      </p:sp>
      <p:sp>
        <p:nvSpPr>
          <p:cNvPr name="TextBox 3" id="3"/>
          <p:cNvSpPr txBox="true"/>
          <p:nvPr/>
        </p:nvSpPr>
        <p:spPr>
          <a:xfrm rot="0">
            <a:off x="0" y="4564780"/>
            <a:ext cx="8791131" cy="363093"/>
          </a:xfrm>
          <a:prstGeom prst="rect">
            <a:avLst/>
          </a:prstGeom>
        </p:spPr>
        <p:txBody>
          <a:bodyPr anchor="t" rtlCol="false" tIns="0" lIns="0" bIns="0" rIns="0">
            <a:spAutoFit/>
          </a:bodyPr>
          <a:lstStyle/>
          <a:p>
            <a:pPr algn="ctr">
              <a:lnSpc>
                <a:spcPts val="2885"/>
              </a:lnSpc>
            </a:pPr>
            <a:r>
              <a:rPr lang="en-US" b="true" sz="2599">
                <a:solidFill>
                  <a:srgbClr val="000000"/>
                </a:solidFill>
                <a:latin typeface="Bricolage Grotesque Bold"/>
                <a:ea typeface="Bricolage Grotesque Bold"/>
                <a:cs typeface="Bricolage Grotesque Bold"/>
                <a:sym typeface="Bricolage Grotesque Bold"/>
              </a:rPr>
              <a:t>Challenge: Financial spending is heavily right-skewed.</a:t>
            </a:r>
          </a:p>
        </p:txBody>
      </p:sp>
      <p:sp>
        <p:nvSpPr>
          <p:cNvPr name="TextBox 4" id="4"/>
          <p:cNvSpPr txBox="true"/>
          <p:nvPr/>
        </p:nvSpPr>
        <p:spPr>
          <a:xfrm rot="0">
            <a:off x="0" y="5627716"/>
            <a:ext cx="11405666" cy="363093"/>
          </a:xfrm>
          <a:prstGeom prst="rect">
            <a:avLst/>
          </a:prstGeom>
        </p:spPr>
        <p:txBody>
          <a:bodyPr anchor="t" rtlCol="false" tIns="0" lIns="0" bIns="0" rIns="0">
            <a:spAutoFit/>
          </a:bodyPr>
          <a:lstStyle/>
          <a:p>
            <a:pPr algn="ctr">
              <a:lnSpc>
                <a:spcPts val="2885"/>
              </a:lnSpc>
            </a:pPr>
            <a:r>
              <a:rPr lang="en-US" b="true" sz="2599">
                <a:solidFill>
                  <a:srgbClr val="000000"/>
                </a:solidFill>
                <a:latin typeface="Bricolage Grotesque Bold"/>
                <a:ea typeface="Bricolage Grotesque Bold"/>
                <a:cs typeface="Bricolage Grotesque Bold"/>
                <a:sym typeface="Bricolage Grotesque Bold"/>
              </a:rPr>
              <a:t>Step 1: Applied a Log(x+1) transformation to normalize extreme values.</a:t>
            </a:r>
          </a:p>
        </p:txBody>
      </p:sp>
      <p:sp>
        <p:nvSpPr>
          <p:cNvPr name="TextBox 5" id="5"/>
          <p:cNvSpPr txBox="true"/>
          <p:nvPr/>
        </p:nvSpPr>
        <p:spPr>
          <a:xfrm rot="0">
            <a:off x="0" y="6514684"/>
            <a:ext cx="10721489" cy="725043"/>
          </a:xfrm>
          <a:prstGeom prst="rect">
            <a:avLst/>
          </a:prstGeom>
        </p:spPr>
        <p:txBody>
          <a:bodyPr anchor="t" rtlCol="false" tIns="0" lIns="0" bIns="0" rIns="0">
            <a:spAutoFit/>
          </a:bodyPr>
          <a:lstStyle/>
          <a:p>
            <a:pPr algn="ctr">
              <a:lnSpc>
                <a:spcPts val="2885"/>
              </a:lnSpc>
            </a:pPr>
            <a:r>
              <a:rPr lang="en-US" b="true" sz="2599">
                <a:solidFill>
                  <a:srgbClr val="000000"/>
                </a:solidFill>
                <a:latin typeface="Bricolage Grotesque Bold"/>
                <a:ea typeface="Bricolage Grotesque Bold"/>
                <a:cs typeface="Bricolage Grotesque Bold"/>
                <a:sym typeface="Bricolage Grotesque Bold"/>
              </a:rPr>
              <a:t>Step 2: Applied Standard Scaling (Z-score) so large categories (like Fresh food) don't dominate the distance algorithms.</a:t>
            </a:r>
          </a:p>
        </p:txBody>
      </p:sp>
      <p:sp>
        <p:nvSpPr>
          <p:cNvPr name="Freeform 6" id="6"/>
          <p:cNvSpPr/>
          <p:nvPr/>
        </p:nvSpPr>
        <p:spPr>
          <a:xfrm flipH="false" flipV="false" rot="0">
            <a:off x="9132397" y="1052513"/>
            <a:ext cx="8126903" cy="4051967"/>
          </a:xfrm>
          <a:custGeom>
            <a:avLst/>
            <a:gdLst/>
            <a:ahLst/>
            <a:cxnLst/>
            <a:rect r="r" b="b" t="t" l="l"/>
            <a:pathLst>
              <a:path h="4051967" w="8126903">
                <a:moveTo>
                  <a:pt x="0" y="0"/>
                </a:moveTo>
                <a:lnTo>
                  <a:pt x="8126903" y="0"/>
                </a:lnTo>
                <a:lnTo>
                  <a:pt x="8126903" y="4051966"/>
                </a:lnTo>
                <a:lnTo>
                  <a:pt x="0" y="4051966"/>
                </a:lnTo>
                <a:lnTo>
                  <a:pt x="0" y="0"/>
                </a:lnTo>
                <a:close/>
              </a:path>
            </a:pathLst>
          </a:custGeom>
          <a:blipFill>
            <a:blip r:embed="rId3"/>
            <a:stretch>
              <a:fillRect l="-2252" t="0" r="-6097" b="-8023"/>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CEFF1"/>
        </a:solidFill>
      </p:bgPr>
    </p:bg>
    <p:spTree>
      <p:nvGrpSpPr>
        <p:cNvPr id="1" name=""/>
        <p:cNvGrpSpPr/>
        <p:nvPr/>
      </p:nvGrpSpPr>
      <p:grpSpPr>
        <a:xfrm>
          <a:off x="0" y="0"/>
          <a:ext cx="0" cy="0"/>
          <a:chOff x="0" y="0"/>
          <a:chExt cx="0" cy="0"/>
        </a:xfrm>
      </p:grpSpPr>
      <p:sp>
        <p:nvSpPr>
          <p:cNvPr name="Freeform 2" id="2"/>
          <p:cNvSpPr/>
          <p:nvPr/>
        </p:nvSpPr>
        <p:spPr>
          <a:xfrm flipH="false" flipV="false" rot="0">
            <a:off x="6973826" y="1757791"/>
            <a:ext cx="2554707" cy="2611690"/>
          </a:xfrm>
          <a:custGeom>
            <a:avLst/>
            <a:gdLst/>
            <a:ahLst/>
            <a:cxnLst/>
            <a:rect r="r" b="b" t="t" l="l"/>
            <a:pathLst>
              <a:path h="2611690" w="2554707">
                <a:moveTo>
                  <a:pt x="0" y="0"/>
                </a:moveTo>
                <a:lnTo>
                  <a:pt x="2554707" y="0"/>
                </a:lnTo>
                <a:lnTo>
                  <a:pt x="2554707" y="2611689"/>
                </a:lnTo>
                <a:lnTo>
                  <a:pt x="0" y="261168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9894369" y="1757791"/>
            <a:ext cx="8238446" cy="8238446"/>
          </a:xfrm>
          <a:custGeom>
            <a:avLst/>
            <a:gdLst/>
            <a:ahLst/>
            <a:cxnLst/>
            <a:rect r="r" b="b" t="t" l="l"/>
            <a:pathLst>
              <a:path h="8238446" w="8238446">
                <a:moveTo>
                  <a:pt x="0" y="0"/>
                </a:moveTo>
                <a:lnTo>
                  <a:pt x="8238446" y="0"/>
                </a:lnTo>
                <a:lnTo>
                  <a:pt x="8238446" y="8238446"/>
                </a:lnTo>
                <a:lnTo>
                  <a:pt x="0" y="8238446"/>
                </a:lnTo>
                <a:lnTo>
                  <a:pt x="0" y="0"/>
                </a:lnTo>
                <a:close/>
              </a:path>
            </a:pathLst>
          </a:custGeom>
          <a:blipFill>
            <a:blip r:embed="rId5"/>
            <a:stretch>
              <a:fillRect l="0" t="0" r="0" b="0"/>
            </a:stretch>
          </a:blipFill>
        </p:spPr>
      </p:sp>
      <p:sp>
        <p:nvSpPr>
          <p:cNvPr name="TextBox 4" id="4"/>
          <p:cNvSpPr txBox="true"/>
          <p:nvPr/>
        </p:nvSpPr>
        <p:spPr>
          <a:xfrm rot="0">
            <a:off x="90472" y="1506868"/>
            <a:ext cx="7274312" cy="1742567"/>
          </a:xfrm>
          <a:prstGeom prst="rect">
            <a:avLst/>
          </a:prstGeom>
        </p:spPr>
        <p:txBody>
          <a:bodyPr anchor="t" rtlCol="false" tIns="0" lIns="0" bIns="0" rIns="0">
            <a:spAutoFit/>
          </a:bodyPr>
          <a:lstStyle/>
          <a:p>
            <a:pPr algn="ctr">
              <a:lnSpc>
                <a:spcPts val="6783"/>
              </a:lnSpc>
            </a:pPr>
            <a:r>
              <a:rPr lang="en-US" b="true" sz="6399">
                <a:solidFill>
                  <a:srgbClr val="323232"/>
                </a:solidFill>
                <a:latin typeface="Bricolage Grotesque Bold"/>
                <a:ea typeface="Bricolage Grotesque Bold"/>
                <a:cs typeface="Bricolage Grotesque Bold"/>
                <a:sym typeface="Bricolage Grotesque Bold"/>
              </a:rPr>
              <a:t>Exploratory Data Analysis (EDA)</a:t>
            </a:r>
          </a:p>
        </p:txBody>
      </p:sp>
      <p:sp>
        <p:nvSpPr>
          <p:cNvPr name="TextBox 5" id="5"/>
          <p:cNvSpPr txBox="true"/>
          <p:nvPr/>
        </p:nvSpPr>
        <p:spPr>
          <a:xfrm rot="0">
            <a:off x="361182" y="4666318"/>
            <a:ext cx="7247951" cy="1073782"/>
          </a:xfrm>
          <a:prstGeom prst="rect">
            <a:avLst/>
          </a:prstGeom>
        </p:spPr>
        <p:txBody>
          <a:bodyPr anchor="t" rtlCol="false" tIns="0" lIns="0" bIns="0" rIns="0">
            <a:spAutoFit/>
          </a:bodyPr>
          <a:lstStyle/>
          <a:p>
            <a:pPr algn="l">
              <a:lnSpc>
                <a:spcPts val="4340"/>
              </a:lnSpc>
              <a:spcBef>
                <a:spcPct val="0"/>
              </a:spcBef>
            </a:pPr>
            <a:r>
              <a:rPr lang="en-US" b="true" sz="3100">
                <a:solidFill>
                  <a:srgbClr val="000000"/>
                </a:solidFill>
                <a:latin typeface="Bricolage Grotesque Bold"/>
                <a:ea typeface="Bricolage Grotesque Bold"/>
                <a:cs typeface="Bricolage Grotesque Bold"/>
                <a:sym typeface="Bricolage Grotesque Bold"/>
              </a:rPr>
              <a:t>S</a:t>
            </a:r>
            <a:r>
              <a:rPr lang="en-US" b="true" sz="3100">
                <a:solidFill>
                  <a:srgbClr val="000000"/>
                </a:solidFill>
                <a:latin typeface="Bricolage Grotesque Bold"/>
                <a:ea typeface="Bricolage Grotesque Bold"/>
                <a:cs typeface="Bricolage Grotesque Bold"/>
                <a:sym typeface="Bricolage Grotesque Bold"/>
              </a:rPr>
              <a:t>trong positive correlation:</a:t>
            </a:r>
          </a:p>
          <a:p>
            <a:pPr algn="l">
              <a:lnSpc>
                <a:spcPts val="4340"/>
              </a:lnSpc>
              <a:spcBef>
                <a:spcPct val="0"/>
              </a:spcBef>
            </a:pPr>
            <a:r>
              <a:rPr lang="en-US" b="true" sz="3100">
                <a:solidFill>
                  <a:srgbClr val="000000"/>
                </a:solidFill>
                <a:latin typeface="Bricolage Grotesque Bold"/>
                <a:ea typeface="Bricolage Grotesque Bold"/>
                <a:cs typeface="Bricolage Grotesque Bold"/>
                <a:sym typeface="Bricolage Grotesque Bold"/>
              </a:rPr>
              <a:t> Grocery + Detergents + Milk.</a:t>
            </a:r>
          </a:p>
        </p:txBody>
      </p:sp>
      <p:sp>
        <p:nvSpPr>
          <p:cNvPr name="TextBox 6" id="6"/>
          <p:cNvSpPr txBox="true"/>
          <p:nvPr/>
        </p:nvSpPr>
        <p:spPr>
          <a:xfrm rot="0">
            <a:off x="361182" y="6111053"/>
            <a:ext cx="7889998" cy="1154427"/>
          </a:xfrm>
          <a:prstGeom prst="rect">
            <a:avLst/>
          </a:prstGeom>
        </p:spPr>
        <p:txBody>
          <a:bodyPr anchor="t" rtlCol="false" tIns="0" lIns="0" bIns="0" rIns="0">
            <a:spAutoFit/>
          </a:bodyPr>
          <a:lstStyle/>
          <a:p>
            <a:pPr algn="l">
              <a:lnSpc>
                <a:spcPts val="4620"/>
              </a:lnSpc>
              <a:spcBef>
                <a:spcPct val="0"/>
              </a:spcBef>
            </a:pPr>
            <a:r>
              <a:rPr lang="en-US" b="true" sz="3300">
                <a:solidFill>
                  <a:srgbClr val="000000"/>
                </a:solidFill>
                <a:latin typeface="Bricolage Grotesque Bold"/>
                <a:ea typeface="Bricolage Grotesque Bold"/>
                <a:cs typeface="Bricolage Grotesque Bold"/>
                <a:sym typeface="Bricolage Grotesque Bold"/>
              </a:rPr>
              <a:t>I</a:t>
            </a:r>
            <a:r>
              <a:rPr lang="en-US" b="true" sz="3300">
                <a:solidFill>
                  <a:srgbClr val="000000"/>
                </a:solidFill>
                <a:latin typeface="Bricolage Grotesque Bold"/>
                <a:ea typeface="Bricolage Grotesque Bold"/>
                <a:cs typeface="Bricolage Grotesque Bold"/>
                <a:sym typeface="Bricolage Grotesque Bold"/>
              </a:rPr>
              <a:t>ndependence: Fresh and Frozen operate independently of groceries.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4877311" y="424516"/>
            <a:ext cx="8533377" cy="1763014"/>
          </a:xfrm>
          <a:prstGeom prst="rect">
            <a:avLst/>
          </a:prstGeom>
        </p:spPr>
        <p:txBody>
          <a:bodyPr anchor="t" rtlCol="false" tIns="0" lIns="0" bIns="0" rIns="0">
            <a:spAutoFit/>
          </a:bodyPr>
          <a:lstStyle/>
          <a:p>
            <a:pPr algn="ctr">
              <a:lnSpc>
                <a:spcPts val="6847"/>
              </a:lnSpc>
            </a:pPr>
            <a:r>
              <a:rPr lang="en-US" b="true" sz="6399">
                <a:solidFill>
                  <a:srgbClr val="323232"/>
                </a:solidFill>
                <a:latin typeface="Bricolage Grotesque Bold"/>
                <a:ea typeface="Bricolage Grotesque Bold"/>
                <a:cs typeface="Bricolage Grotesque Bold"/>
                <a:sym typeface="Bricolage Grotesque Bold"/>
              </a:rPr>
              <a:t>Principal Component Analysis (PCA)</a:t>
            </a:r>
          </a:p>
        </p:txBody>
      </p:sp>
      <p:sp>
        <p:nvSpPr>
          <p:cNvPr name="Freeform 3" id="3"/>
          <p:cNvSpPr/>
          <p:nvPr/>
        </p:nvSpPr>
        <p:spPr>
          <a:xfrm flipH="false" flipV="false" rot="0">
            <a:off x="16996110" y="2822789"/>
            <a:ext cx="1037232" cy="1118584"/>
          </a:xfrm>
          <a:custGeom>
            <a:avLst/>
            <a:gdLst/>
            <a:ahLst/>
            <a:cxnLst/>
            <a:rect r="r" b="b" t="t" l="l"/>
            <a:pathLst>
              <a:path h="1118584" w="1037232">
                <a:moveTo>
                  <a:pt x="0" y="0"/>
                </a:moveTo>
                <a:lnTo>
                  <a:pt x="1037232" y="0"/>
                </a:lnTo>
                <a:lnTo>
                  <a:pt x="1037232" y="1118584"/>
                </a:lnTo>
                <a:lnTo>
                  <a:pt x="0" y="111858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28575" y="2881259"/>
            <a:ext cx="8278598" cy="5908849"/>
          </a:xfrm>
          <a:custGeom>
            <a:avLst/>
            <a:gdLst/>
            <a:ahLst/>
            <a:cxnLst/>
            <a:rect r="r" b="b" t="t" l="l"/>
            <a:pathLst>
              <a:path h="5908849" w="8278598">
                <a:moveTo>
                  <a:pt x="0" y="0"/>
                </a:moveTo>
                <a:lnTo>
                  <a:pt x="8278598" y="0"/>
                </a:lnTo>
                <a:lnTo>
                  <a:pt x="8278598" y="5908849"/>
                </a:lnTo>
                <a:lnTo>
                  <a:pt x="0" y="5908849"/>
                </a:lnTo>
                <a:lnTo>
                  <a:pt x="0" y="0"/>
                </a:lnTo>
                <a:close/>
              </a:path>
            </a:pathLst>
          </a:custGeom>
          <a:blipFill>
            <a:blip r:embed="rId5"/>
            <a:stretch>
              <a:fillRect l="0" t="0" r="0" b="0"/>
            </a:stretch>
          </a:blipFill>
        </p:spPr>
      </p:sp>
      <p:sp>
        <p:nvSpPr>
          <p:cNvPr name="TextBox 5" id="5"/>
          <p:cNvSpPr txBox="true"/>
          <p:nvPr/>
        </p:nvSpPr>
        <p:spPr>
          <a:xfrm rot="0">
            <a:off x="8585386" y="5101036"/>
            <a:ext cx="9447956" cy="596901"/>
          </a:xfrm>
          <a:prstGeom prst="rect">
            <a:avLst/>
          </a:prstGeom>
        </p:spPr>
        <p:txBody>
          <a:bodyPr anchor="t" rtlCol="false" tIns="0" lIns="0" bIns="0" rIns="0">
            <a:spAutoFit/>
          </a:bodyPr>
          <a:lstStyle/>
          <a:p>
            <a:pPr algn="l">
              <a:lnSpc>
                <a:spcPts val="4899"/>
              </a:lnSpc>
              <a:spcBef>
                <a:spcPct val="0"/>
              </a:spcBef>
            </a:pPr>
            <a:r>
              <a:rPr lang="en-US" b="true" sz="3499">
                <a:solidFill>
                  <a:srgbClr val="323232"/>
                </a:solidFill>
                <a:latin typeface="Bricolage Grotesque Bold"/>
                <a:ea typeface="Bricolage Grotesque Bold"/>
                <a:cs typeface="Bricolage Grotesque Bold"/>
                <a:sym typeface="Bricolage Grotesque Bold"/>
              </a:rPr>
              <a:t>Reduced 6 variables down to 2 dimensions.</a:t>
            </a:r>
          </a:p>
        </p:txBody>
      </p:sp>
      <p:sp>
        <p:nvSpPr>
          <p:cNvPr name="TextBox 6" id="6"/>
          <p:cNvSpPr txBox="true"/>
          <p:nvPr/>
        </p:nvSpPr>
        <p:spPr>
          <a:xfrm rot="0">
            <a:off x="8585386" y="7882023"/>
            <a:ext cx="9447956" cy="530860"/>
          </a:xfrm>
          <a:prstGeom prst="rect">
            <a:avLst/>
          </a:prstGeom>
        </p:spPr>
        <p:txBody>
          <a:bodyPr anchor="t" rtlCol="false" tIns="0" lIns="0" bIns="0" rIns="0">
            <a:spAutoFit/>
          </a:bodyPr>
          <a:lstStyle/>
          <a:p>
            <a:pPr algn="ctr">
              <a:lnSpc>
                <a:spcPts val="4339"/>
              </a:lnSpc>
              <a:spcBef>
                <a:spcPct val="0"/>
              </a:spcBef>
            </a:pPr>
            <a:r>
              <a:rPr lang="en-US" b="true" sz="3099">
                <a:solidFill>
                  <a:srgbClr val="323232"/>
                </a:solidFill>
                <a:latin typeface="Bricolage Grotesque Bold"/>
                <a:ea typeface="Bricolage Grotesque Bold"/>
                <a:cs typeface="Bricolage Grotesque Bold"/>
                <a:sym typeface="Bricolage Grotesque Bold"/>
              </a:rPr>
              <a:t>Total Variance Explained by First 2 Components.</a:t>
            </a:r>
          </a:p>
        </p:txBody>
      </p:sp>
      <p:sp>
        <p:nvSpPr>
          <p:cNvPr name="TextBox 7" id="7"/>
          <p:cNvSpPr txBox="true"/>
          <p:nvPr/>
        </p:nvSpPr>
        <p:spPr>
          <a:xfrm rot="0">
            <a:off x="11547374" y="5955112"/>
            <a:ext cx="3230761" cy="1566544"/>
          </a:xfrm>
          <a:prstGeom prst="rect">
            <a:avLst/>
          </a:prstGeom>
        </p:spPr>
        <p:txBody>
          <a:bodyPr anchor="t" rtlCol="false" tIns="0" lIns="0" bIns="0" rIns="0">
            <a:spAutoFit/>
          </a:bodyPr>
          <a:lstStyle/>
          <a:p>
            <a:pPr algn="ctr" marL="0" indent="0" lvl="0">
              <a:lnSpc>
                <a:spcPts val="12880"/>
              </a:lnSpc>
              <a:spcBef>
                <a:spcPct val="0"/>
              </a:spcBef>
            </a:pPr>
            <a:r>
              <a:rPr lang="en-US" b="true" sz="9200">
                <a:solidFill>
                  <a:srgbClr val="000000"/>
                </a:solidFill>
                <a:latin typeface="Canva Sans Bold"/>
                <a:ea typeface="Canva Sans Bold"/>
                <a:cs typeface="Canva Sans Bold"/>
                <a:sym typeface="Canva Sans Bold"/>
              </a:rPr>
              <a:t>71.3%</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CEFF1"/>
        </a:solidFill>
      </p:bgPr>
    </p:bg>
    <p:spTree>
      <p:nvGrpSpPr>
        <p:cNvPr id="1" name=""/>
        <p:cNvGrpSpPr/>
        <p:nvPr/>
      </p:nvGrpSpPr>
      <p:grpSpPr>
        <a:xfrm>
          <a:off x="0" y="0"/>
          <a:ext cx="0" cy="0"/>
          <a:chOff x="0" y="0"/>
          <a:chExt cx="0" cy="0"/>
        </a:xfrm>
      </p:grpSpPr>
      <p:sp>
        <p:nvSpPr>
          <p:cNvPr name="Freeform 2" id="2"/>
          <p:cNvSpPr/>
          <p:nvPr/>
        </p:nvSpPr>
        <p:spPr>
          <a:xfrm flipH="false" flipV="false" rot="0">
            <a:off x="5518654" y="861727"/>
            <a:ext cx="12702671" cy="9073337"/>
          </a:xfrm>
          <a:custGeom>
            <a:avLst/>
            <a:gdLst/>
            <a:ahLst/>
            <a:cxnLst/>
            <a:rect r="r" b="b" t="t" l="l"/>
            <a:pathLst>
              <a:path h="9073337" w="12702671">
                <a:moveTo>
                  <a:pt x="0" y="0"/>
                </a:moveTo>
                <a:lnTo>
                  <a:pt x="12702671" y="0"/>
                </a:lnTo>
                <a:lnTo>
                  <a:pt x="12702671" y="9073337"/>
                </a:lnTo>
                <a:lnTo>
                  <a:pt x="0" y="9073337"/>
                </a:lnTo>
                <a:lnTo>
                  <a:pt x="0" y="0"/>
                </a:lnTo>
                <a:close/>
              </a:path>
            </a:pathLst>
          </a:custGeom>
          <a:blipFill>
            <a:blip r:embed="rId3"/>
            <a:stretch>
              <a:fillRect l="0" t="0" r="0" b="0"/>
            </a:stretch>
          </a:blipFill>
        </p:spPr>
      </p:sp>
      <p:sp>
        <p:nvSpPr>
          <p:cNvPr name="TextBox 3" id="3"/>
          <p:cNvSpPr txBox="true"/>
          <p:nvPr/>
        </p:nvSpPr>
        <p:spPr>
          <a:xfrm rot="0">
            <a:off x="361182" y="1630945"/>
            <a:ext cx="4977431" cy="2599817"/>
          </a:xfrm>
          <a:prstGeom prst="rect">
            <a:avLst/>
          </a:prstGeom>
        </p:spPr>
        <p:txBody>
          <a:bodyPr anchor="t" rtlCol="false" tIns="0" lIns="0" bIns="0" rIns="0">
            <a:spAutoFit/>
          </a:bodyPr>
          <a:lstStyle/>
          <a:p>
            <a:pPr algn="ctr">
              <a:lnSpc>
                <a:spcPts val="6783"/>
              </a:lnSpc>
            </a:pPr>
            <a:r>
              <a:rPr lang="en-US" b="true" sz="6399">
                <a:solidFill>
                  <a:srgbClr val="323232"/>
                </a:solidFill>
                <a:latin typeface="Bricolage Grotesque Bold"/>
                <a:ea typeface="Bricolage Grotesque Bold"/>
                <a:cs typeface="Bricolage Grotesque Bold"/>
                <a:sym typeface="Bricolage Grotesque Bold"/>
              </a:rPr>
              <a:t>Interpreting the Dimensions</a:t>
            </a:r>
          </a:p>
        </p:txBody>
      </p:sp>
      <p:sp>
        <p:nvSpPr>
          <p:cNvPr name="TextBox 4" id="4"/>
          <p:cNvSpPr txBox="true"/>
          <p:nvPr/>
        </p:nvSpPr>
        <p:spPr>
          <a:xfrm rot="0">
            <a:off x="361182" y="4694893"/>
            <a:ext cx="4804461" cy="703502"/>
          </a:xfrm>
          <a:prstGeom prst="rect">
            <a:avLst/>
          </a:prstGeom>
        </p:spPr>
        <p:txBody>
          <a:bodyPr anchor="t" rtlCol="false" tIns="0" lIns="0" bIns="0" rIns="0">
            <a:spAutoFit/>
          </a:bodyPr>
          <a:lstStyle/>
          <a:p>
            <a:pPr algn="l">
              <a:lnSpc>
                <a:spcPts val="2867"/>
              </a:lnSpc>
              <a:spcBef>
                <a:spcPct val="0"/>
              </a:spcBef>
            </a:pPr>
            <a:r>
              <a:rPr lang="en-US" b="true" sz="2048">
                <a:solidFill>
                  <a:srgbClr val="000000"/>
                </a:solidFill>
                <a:latin typeface="Bricolage Grotesque Bold"/>
                <a:ea typeface="Bricolage Grotesque Bold"/>
                <a:cs typeface="Bricolage Grotesque Bold"/>
                <a:sym typeface="Bricolage Grotesque Bold"/>
              </a:rPr>
              <a:t>Dimensi</a:t>
            </a:r>
            <a:r>
              <a:rPr lang="en-US" b="true" sz="2048">
                <a:solidFill>
                  <a:srgbClr val="000000"/>
                </a:solidFill>
                <a:latin typeface="Bricolage Grotesque Bold"/>
                <a:ea typeface="Bricolage Grotesque Bold"/>
                <a:cs typeface="Bricolage Grotesque Bold"/>
                <a:sym typeface="Bricolage Grotesque Bold"/>
              </a:rPr>
              <a:t>on 1 (Horizontal): The "Retail Axis" (Grocery &amp; Detergents).</a:t>
            </a:r>
          </a:p>
        </p:txBody>
      </p:sp>
      <p:sp>
        <p:nvSpPr>
          <p:cNvPr name="TextBox 5" id="5"/>
          <p:cNvSpPr txBox="true"/>
          <p:nvPr/>
        </p:nvSpPr>
        <p:spPr>
          <a:xfrm rot="0">
            <a:off x="361182" y="6139628"/>
            <a:ext cx="4804461" cy="704190"/>
          </a:xfrm>
          <a:prstGeom prst="rect">
            <a:avLst/>
          </a:prstGeom>
        </p:spPr>
        <p:txBody>
          <a:bodyPr anchor="t" rtlCol="false" tIns="0" lIns="0" bIns="0" rIns="0">
            <a:spAutoFit/>
          </a:bodyPr>
          <a:lstStyle/>
          <a:p>
            <a:pPr algn="l">
              <a:lnSpc>
                <a:spcPts val="2813"/>
              </a:lnSpc>
              <a:spcBef>
                <a:spcPct val="0"/>
              </a:spcBef>
            </a:pPr>
            <a:r>
              <a:rPr lang="en-US" b="true" sz="2009">
                <a:solidFill>
                  <a:srgbClr val="000000"/>
                </a:solidFill>
                <a:latin typeface="Bricolage Grotesque Bold"/>
                <a:ea typeface="Bricolage Grotesque Bold"/>
                <a:cs typeface="Bricolage Grotesque Bold"/>
                <a:sym typeface="Bricolage Grotesque Bold"/>
              </a:rPr>
              <a:t>Dim</a:t>
            </a:r>
            <a:r>
              <a:rPr lang="en-US" b="true" sz="2009">
                <a:solidFill>
                  <a:srgbClr val="000000"/>
                </a:solidFill>
                <a:latin typeface="Bricolage Grotesque Bold"/>
                <a:ea typeface="Bricolage Grotesque Bold"/>
                <a:cs typeface="Bricolage Grotesque Bold"/>
                <a:sym typeface="Bricolage Grotesque Bold"/>
              </a:rPr>
              <a:t>ension 2 (Vertical): The "Restaurant Axis" (Fresh &amp; Frozen).</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CEFF1"/>
        </a:solidFill>
      </p:bgPr>
    </p:bg>
    <p:spTree>
      <p:nvGrpSpPr>
        <p:cNvPr id="1" name=""/>
        <p:cNvGrpSpPr/>
        <p:nvPr/>
      </p:nvGrpSpPr>
      <p:grpSpPr>
        <a:xfrm>
          <a:off x="0" y="0"/>
          <a:ext cx="0" cy="0"/>
          <a:chOff x="0" y="0"/>
          <a:chExt cx="0" cy="0"/>
        </a:xfrm>
      </p:grpSpPr>
      <p:sp>
        <p:nvSpPr>
          <p:cNvPr name="Freeform 2" id="2"/>
          <p:cNvSpPr/>
          <p:nvPr/>
        </p:nvSpPr>
        <p:spPr>
          <a:xfrm flipH="false" flipV="false" rot="0">
            <a:off x="6289648" y="794310"/>
            <a:ext cx="11345604" cy="8097925"/>
          </a:xfrm>
          <a:custGeom>
            <a:avLst/>
            <a:gdLst/>
            <a:ahLst/>
            <a:cxnLst/>
            <a:rect r="r" b="b" t="t" l="l"/>
            <a:pathLst>
              <a:path h="8097925" w="11345604">
                <a:moveTo>
                  <a:pt x="0" y="0"/>
                </a:moveTo>
                <a:lnTo>
                  <a:pt x="11345604" y="0"/>
                </a:lnTo>
                <a:lnTo>
                  <a:pt x="11345604" y="8097924"/>
                </a:lnTo>
                <a:lnTo>
                  <a:pt x="0" y="8097924"/>
                </a:lnTo>
                <a:lnTo>
                  <a:pt x="0" y="0"/>
                </a:lnTo>
                <a:close/>
              </a:path>
            </a:pathLst>
          </a:custGeom>
          <a:blipFill>
            <a:blip r:embed="rId3"/>
            <a:stretch>
              <a:fillRect l="0" t="0" r="0" b="0"/>
            </a:stretch>
          </a:blipFill>
        </p:spPr>
      </p:sp>
      <p:sp>
        <p:nvSpPr>
          <p:cNvPr name="TextBox 3" id="3"/>
          <p:cNvSpPr txBox="true"/>
          <p:nvPr/>
        </p:nvSpPr>
        <p:spPr>
          <a:xfrm rot="0">
            <a:off x="-465265" y="1813697"/>
            <a:ext cx="7274312" cy="1742567"/>
          </a:xfrm>
          <a:prstGeom prst="rect">
            <a:avLst/>
          </a:prstGeom>
        </p:spPr>
        <p:txBody>
          <a:bodyPr anchor="t" rtlCol="false" tIns="0" lIns="0" bIns="0" rIns="0">
            <a:spAutoFit/>
          </a:bodyPr>
          <a:lstStyle/>
          <a:p>
            <a:pPr algn="ctr">
              <a:lnSpc>
                <a:spcPts val="6783"/>
              </a:lnSpc>
            </a:pPr>
            <a:r>
              <a:rPr lang="en-US" b="true" sz="6399">
                <a:solidFill>
                  <a:srgbClr val="323232"/>
                </a:solidFill>
                <a:latin typeface="Bricolage Grotesque Bold"/>
                <a:ea typeface="Bricolage Grotesque Bold"/>
                <a:cs typeface="Bricolage Grotesque Bold"/>
                <a:sym typeface="Bricolage Grotesque Bold"/>
              </a:rPr>
              <a:t>K-Means Clustering</a:t>
            </a:r>
          </a:p>
        </p:txBody>
      </p:sp>
      <p:sp>
        <p:nvSpPr>
          <p:cNvPr name="TextBox 4" id="4"/>
          <p:cNvSpPr txBox="true"/>
          <p:nvPr/>
        </p:nvSpPr>
        <p:spPr>
          <a:xfrm rot="0">
            <a:off x="361182" y="4666318"/>
            <a:ext cx="7247951" cy="530857"/>
          </a:xfrm>
          <a:prstGeom prst="rect">
            <a:avLst/>
          </a:prstGeom>
        </p:spPr>
        <p:txBody>
          <a:bodyPr anchor="t" rtlCol="false" tIns="0" lIns="0" bIns="0" rIns="0">
            <a:spAutoFit/>
          </a:bodyPr>
          <a:lstStyle/>
          <a:p>
            <a:pPr algn="l">
              <a:lnSpc>
                <a:spcPts val="4340"/>
              </a:lnSpc>
              <a:spcBef>
                <a:spcPct val="0"/>
              </a:spcBef>
            </a:pPr>
            <a:r>
              <a:rPr lang="en-US" b="true" sz="3100">
                <a:solidFill>
                  <a:srgbClr val="000000"/>
                </a:solidFill>
                <a:latin typeface="Bricolage Grotesque Bold"/>
                <a:ea typeface="Bricolage Grotesque Bold"/>
                <a:cs typeface="Bricolage Grotesque Bold"/>
                <a:sym typeface="Bricolage Grotesque Bold"/>
              </a:rPr>
              <a:t>Al</a:t>
            </a:r>
            <a:r>
              <a:rPr lang="en-US" b="true" sz="3100">
                <a:solidFill>
                  <a:srgbClr val="000000"/>
                </a:solidFill>
                <a:latin typeface="Bricolage Grotesque Bold"/>
                <a:ea typeface="Bricolage Grotesque Bold"/>
                <a:cs typeface="Bricolage Grotesque Bold"/>
                <a:sym typeface="Bricolage Grotesque Bold"/>
              </a:rPr>
              <a:t>gorithm used: K-Means.</a:t>
            </a:r>
          </a:p>
        </p:txBody>
      </p:sp>
      <p:sp>
        <p:nvSpPr>
          <p:cNvPr name="TextBox 5" id="5"/>
          <p:cNvSpPr txBox="true"/>
          <p:nvPr/>
        </p:nvSpPr>
        <p:spPr>
          <a:xfrm rot="0">
            <a:off x="361182" y="7818452"/>
            <a:ext cx="5928467" cy="1073782"/>
          </a:xfrm>
          <a:prstGeom prst="rect">
            <a:avLst/>
          </a:prstGeom>
        </p:spPr>
        <p:txBody>
          <a:bodyPr anchor="t" rtlCol="false" tIns="0" lIns="0" bIns="0" rIns="0">
            <a:spAutoFit/>
          </a:bodyPr>
          <a:lstStyle/>
          <a:p>
            <a:pPr algn="l">
              <a:lnSpc>
                <a:spcPts val="4340"/>
              </a:lnSpc>
              <a:spcBef>
                <a:spcPct val="0"/>
              </a:spcBef>
            </a:pPr>
            <a:r>
              <a:rPr lang="en-US" b="true" sz="3100">
                <a:solidFill>
                  <a:srgbClr val="000000"/>
                </a:solidFill>
                <a:latin typeface="Bricolage Grotesque Bold"/>
                <a:ea typeface="Bricolage Grotesque Bold"/>
                <a:cs typeface="Bricolage Grotesque Bold"/>
                <a:sym typeface="Bricolage Grotesque Bold"/>
              </a:rPr>
              <a:t>Decision: K = 3 optimal dist</a:t>
            </a:r>
            <a:r>
              <a:rPr lang="en-US" b="true" sz="3100">
                <a:solidFill>
                  <a:srgbClr val="000000"/>
                </a:solidFill>
                <a:latin typeface="Bricolage Grotesque Bold"/>
                <a:ea typeface="Bricolage Grotesque Bold"/>
                <a:cs typeface="Bricolage Grotesque Bold"/>
                <a:sym typeface="Bricolage Grotesque Bold"/>
              </a:rPr>
              <a:t>inct customer groups.</a:t>
            </a:r>
          </a:p>
        </p:txBody>
      </p:sp>
      <p:sp>
        <p:nvSpPr>
          <p:cNvPr name="TextBox 6" id="6"/>
          <p:cNvSpPr txBox="true"/>
          <p:nvPr/>
        </p:nvSpPr>
        <p:spPr>
          <a:xfrm rot="0">
            <a:off x="361182" y="5501975"/>
            <a:ext cx="5226593" cy="1735452"/>
          </a:xfrm>
          <a:prstGeom prst="rect">
            <a:avLst/>
          </a:prstGeom>
        </p:spPr>
        <p:txBody>
          <a:bodyPr anchor="t" rtlCol="false" tIns="0" lIns="0" bIns="0" rIns="0">
            <a:spAutoFit/>
          </a:bodyPr>
          <a:lstStyle/>
          <a:p>
            <a:pPr algn="l">
              <a:lnSpc>
                <a:spcPts val="4620"/>
              </a:lnSpc>
              <a:spcBef>
                <a:spcPct val="0"/>
              </a:spcBef>
            </a:pPr>
            <a:r>
              <a:rPr lang="en-US" b="true" sz="3300">
                <a:solidFill>
                  <a:srgbClr val="000000"/>
                </a:solidFill>
                <a:latin typeface="Bricolage Grotesque Bold"/>
                <a:ea typeface="Bricolage Grotesque Bold"/>
                <a:cs typeface="Bricolage Grotesque Bold"/>
                <a:sym typeface="Bricolage Grotesque Bold"/>
              </a:rPr>
              <a:t>O</a:t>
            </a:r>
            <a:r>
              <a:rPr lang="en-US" b="true" sz="3300">
                <a:solidFill>
                  <a:srgbClr val="000000"/>
                </a:solidFill>
                <a:latin typeface="Bricolage Grotesque Bold"/>
                <a:ea typeface="Bricolage Grotesque Bold"/>
                <a:cs typeface="Bricolage Grotesque Bold"/>
                <a:sym typeface="Bricolage Grotesque Bold"/>
              </a:rPr>
              <a:t>ptimization: Used the Elbow Method (Within-Cluster Sum of Squares).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CEFF1"/>
        </a:solidFill>
      </p:bgPr>
    </p:bg>
    <p:spTree>
      <p:nvGrpSpPr>
        <p:cNvPr id="1" name=""/>
        <p:cNvGrpSpPr/>
        <p:nvPr/>
      </p:nvGrpSpPr>
      <p:grpSpPr>
        <a:xfrm>
          <a:off x="0" y="0"/>
          <a:ext cx="0" cy="0"/>
          <a:chOff x="0" y="0"/>
          <a:chExt cx="0" cy="0"/>
        </a:xfrm>
      </p:grpSpPr>
      <p:sp>
        <p:nvSpPr>
          <p:cNvPr name="Freeform 2" id="2"/>
          <p:cNvSpPr/>
          <p:nvPr/>
        </p:nvSpPr>
        <p:spPr>
          <a:xfrm flipH="false" flipV="false" rot="0">
            <a:off x="7105122" y="1292185"/>
            <a:ext cx="10791775" cy="7702630"/>
          </a:xfrm>
          <a:custGeom>
            <a:avLst/>
            <a:gdLst/>
            <a:ahLst/>
            <a:cxnLst/>
            <a:rect r="r" b="b" t="t" l="l"/>
            <a:pathLst>
              <a:path h="7702630" w="10791775">
                <a:moveTo>
                  <a:pt x="0" y="0"/>
                </a:moveTo>
                <a:lnTo>
                  <a:pt x="10791776" y="0"/>
                </a:lnTo>
                <a:lnTo>
                  <a:pt x="10791776" y="7702630"/>
                </a:lnTo>
                <a:lnTo>
                  <a:pt x="0" y="7702630"/>
                </a:lnTo>
                <a:lnTo>
                  <a:pt x="0" y="0"/>
                </a:lnTo>
                <a:close/>
              </a:path>
            </a:pathLst>
          </a:custGeom>
          <a:blipFill>
            <a:blip r:embed="rId3"/>
            <a:stretch>
              <a:fillRect l="0" t="0" r="0" b="0"/>
            </a:stretch>
          </a:blipFill>
        </p:spPr>
      </p:sp>
      <p:sp>
        <p:nvSpPr>
          <p:cNvPr name="TextBox 3" id="3"/>
          <p:cNvSpPr txBox="true"/>
          <p:nvPr/>
        </p:nvSpPr>
        <p:spPr>
          <a:xfrm rot="0">
            <a:off x="-366524" y="1933289"/>
            <a:ext cx="8084819" cy="1943100"/>
          </a:xfrm>
          <a:prstGeom prst="rect">
            <a:avLst/>
          </a:prstGeom>
        </p:spPr>
        <p:txBody>
          <a:bodyPr anchor="t" rtlCol="false" tIns="0" lIns="0" bIns="0" rIns="0">
            <a:spAutoFit/>
          </a:bodyPr>
          <a:lstStyle/>
          <a:p>
            <a:pPr algn="ctr">
              <a:lnSpc>
                <a:spcPts val="7679"/>
              </a:lnSpc>
            </a:pPr>
            <a:r>
              <a:rPr lang="en-US" sz="6399" b="true">
                <a:solidFill>
                  <a:srgbClr val="323232"/>
                </a:solidFill>
                <a:latin typeface="Bricolage Grotesque Bold"/>
                <a:ea typeface="Bricolage Grotesque Bold"/>
                <a:cs typeface="Bricolage Grotesque Bold"/>
                <a:sym typeface="Bricolage Grotesque Bold"/>
              </a:rPr>
              <a:t>Integrating PCA </a:t>
            </a:r>
          </a:p>
          <a:p>
            <a:pPr algn="ctr">
              <a:lnSpc>
                <a:spcPts val="7679"/>
              </a:lnSpc>
            </a:pPr>
            <a:r>
              <a:rPr lang="en-US" b="true" sz="6399">
                <a:solidFill>
                  <a:srgbClr val="323232"/>
                </a:solidFill>
                <a:latin typeface="Bricolage Grotesque Bold"/>
                <a:ea typeface="Bricolage Grotesque Bold"/>
                <a:cs typeface="Bricolage Grotesque Bold"/>
                <a:sym typeface="Bricolage Grotesque Bold"/>
              </a:rPr>
              <a:t>&amp; Clustering</a:t>
            </a:r>
          </a:p>
        </p:txBody>
      </p:sp>
      <p:sp>
        <p:nvSpPr>
          <p:cNvPr name="TextBox 4" id="4"/>
          <p:cNvSpPr txBox="true"/>
          <p:nvPr/>
        </p:nvSpPr>
        <p:spPr>
          <a:xfrm rot="0">
            <a:off x="0" y="4795266"/>
            <a:ext cx="6738599" cy="725043"/>
          </a:xfrm>
          <a:prstGeom prst="rect">
            <a:avLst/>
          </a:prstGeom>
        </p:spPr>
        <p:txBody>
          <a:bodyPr anchor="t" rtlCol="false" tIns="0" lIns="0" bIns="0" rIns="0">
            <a:spAutoFit/>
          </a:bodyPr>
          <a:lstStyle/>
          <a:p>
            <a:pPr algn="ctr">
              <a:lnSpc>
                <a:spcPts val="2885"/>
              </a:lnSpc>
            </a:pPr>
            <a:r>
              <a:rPr lang="en-US" b="true" sz="2599">
                <a:solidFill>
                  <a:srgbClr val="000000"/>
                </a:solidFill>
                <a:latin typeface="Bricolage Grotesque Bold"/>
                <a:ea typeface="Bricolage Grotesque Bold"/>
                <a:cs typeface="Bricolage Grotesque Bold"/>
                <a:sym typeface="Bricolage Grotesque Bold"/>
              </a:rPr>
              <a:t>Projected the 3 K-Means clusters onto the 2D PCA space.</a:t>
            </a:r>
          </a:p>
        </p:txBody>
      </p:sp>
      <p:sp>
        <p:nvSpPr>
          <p:cNvPr name="TextBox 5" id="5"/>
          <p:cNvSpPr txBox="true"/>
          <p:nvPr/>
        </p:nvSpPr>
        <p:spPr>
          <a:xfrm rot="0">
            <a:off x="-366524" y="5880459"/>
            <a:ext cx="7471646" cy="725043"/>
          </a:xfrm>
          <a:prstGeom prst="rect">
            <a:avLst/>
          </a:prstGeom>
        </p:spPr>
        <p:txBody>
          <a:bodyPr anchor="t" rtlCol="false" tIns="0" lIns="0" bIns="0" rIns="0">
            <a:spAutoFit/>
          </a:bodyPr>
          <a:lstStyle/>
          <a:p>
            <a:pPr algn="ctr">
              <a:lnSpc>
                <a:spcPts val="2885"/>
              </a:lnSpc>
            </a:pPr>
            <a:r>
              <a:rPr lang="en-US" b="true" sz="2599">
                <a:solidFill>
                  <a:srgbClr val="000000"/>
                </a:solidFill>
                <a:latin typeface="Bricolage Grotesque Bold"/>
                <a:ea typeface="Bricolage Grotesque Bold"/>
                <a:cs typeface="Bricolage Grotesque Bold"/>
                <a:sym typeface="Bricolage Grotesque Bold"/>
              </a:rPr>
              <a:t>Result: Clean separation, proving highly distinct behavioral profiles.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039486" y="1253040"/>
            <a:ext cx="1037232" cy="1118584"/>
          </a:xfrm>
          <a:custGeom>
            <a:avLst/>
            <a:gdLst/>
            <a:ahLst/>
            <a:cxnLst/>
            <a:rect r="r" b="b" t="t" l="l"/>
            <a:pathLst>
              <a:path h="1118584" w="1037232">
                <a:moveTo>
                  <a:pt x="0" y="0"/>
                </a:moveTo>
                <a:lnTo>
                  <a:pt x="1037232" y="0"/>
                </a:lnTo>
                <a:lnTo>
                  <a:pt x="1037232" y="1118584"/>
                </a:lnTo>
                <a:lnTo>
                  <a:pt x="0" y="111858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898948" y="2371624"/>
            <a:ext cx="15994236" cy="2998919"/>
          </a:xfrm>
          <a:custGeom>
            <a:avLst/>
            <a:gdLst/>
            <a:ahLst/>
            <a:cxnLst/>
            <a:rect r="r" b="b" t="t" l="l"/>
            <a:pathLst>
              <a:path h="2998919" w="15994236">
                <a:moveTo>
                  <a:pt x="0" y="0"/>
                </a:moveTo>
                <a:lnTo>
                  <a:pt x="15994236" y="0"/>
                </a:lnTo>
                <a:lnTo>
                  <a:pt x="15994236" y="2998919"/>
                </a:lnTo>
                <a:lnTo>
                  <a:pt x="0" y="2998919"/>
                </a:lnTo>
                <a:lnTo>
                  <a:pt x="0" y="0"/>
                </a:lnTo>
                <a:close/>
              </a:path>
            </a:pathLst>
          </a:custGeom>
          <a:blipFill>
            <a:blip r:embed="rId5"/>
            <a:stretch>
              <a:fillRect l="0" t="0" r="0" b="0"/>
            </a:stretch>
          </a:blipFill>
        </p:spPr>
      </p:sp>
      <p:sp>
        <p:nvSpPr>
          <p:cNvPr name="TextBox 4" id="4"/>
          <p:cNvSpPr txBox="true"/>
          <p:nvPr/>
        </p:nvSpPr>
        <p:spPr>
          <a:xfrm rot="0">
            <a:off x="4629377" y="1329240"/>
            <a:ext cx="8533377" cy="896239"/>
          </a:xfrm>
          <a:prstGeom prst="rect">
            <a:avLst/>
          </a:prstGeom>
        </p:spPr>
        <p:txBody>
          <a:bodyPr anchor="t" rtlCol="false" tIns="0" lIns="0" bIns="0" rIns="0">
            <a:spAutoFit/>
          </a:bodyPr>
          <a:lstStyle/>
          <a:p>
            <a:pPr algn="ctr">
              <a:lnSpc>
                <a:spcPts val="6847"/>
              </a:lnSpc>
            </a:pPr>
            <a:r>
              <a:rPr lang="en-US" b="true" sz="6399">
                <a:solidFill>
                  <a:srgbClr val="323232"/>
                </a:solidFill>
                <a:latin typeface="Bricolage Grotesque Bold"/>
                <a:ea typeface="Bricolage Grotesque Bold"/>
                <a:cs typeface="Bricolage Grotesque Bold"/>
                <a:sym typeface="Bricolage Grotesque Bold"/>
              </a:rPr>
              <a:t>The Business Profiles</a:t>
            </a:r>
          </a:p>
        </p:txBody>
      </p:sp>
      <p:sp>
        <p:nvSpPr>
          <p:cNvPr name="TextBox 5" id="5"/>
          <p:cNvSpPr txBox="true"/>
          <p:nvPr/>
        </p:nvSpPr>
        <p:spPr>
          <a:xfrm rot="0">
            <a:off x="898948" y="5965783"/>
            <a:ext cx="12263807" cy="504825"/>
          </a:xfrm>
          <a:prstGeom prst="rect">
            <a:avLst/>
          </a:prstGeom>
        </p:spPr>
        <p:txBody>
          <a:bodyPr anchor="t" rtlCol="false" tIns="0" lIns="0" bIns="0" rIns="0">
            <a:spAutoFit/>
          </a:bodyPr>
          <a:lstStyle/>
          <a:p>
            <a:pPr algn="l">
              <a:lnSpc>
                <a:spcPts val="4199"/>
              </a:lnSpc>
              <a:spcBef>
                <a:spcPct val="0"/>
              </a:spcBef>
            </a:pPr>
            <a:r>
              <a:rPr lang="en-US" b="true" sz="2999">
                <a:solidFill>
                  <a:srgbClr val="323232"/>
                </a:solidFill>
                <a:latin typeface="Bricolage Grotesque Bold"/>
                <a:ea typeface="Bricolage Grotesque Bold"/>
                <a:cs typeface="Bricolage Grotesque Bold"/>
                <a:sym typeface="Bricolage Grotesque Bold"/>
              </a:rPr>
              <a:t>Cluster 1: Small/Medium Restaurants (High % of Fresh/Frozen)</a:t>
            </a:r>
          </a:p>
        </p:txBody>
      </p:sp>
      <p:sp>
        <p:nvSpPr>
          <p:cNvPr name="TextBox 6" id="6"/>
          <p:cNvSpPr txBox="true"/>
          <p:nvPr/>
        </p:nvSpPr>
        <p:spPr>
          <a:xfrm rot="0">
            <a:off x="898948" y="6689684"/>
            <a:ext cx="14853907" cy="504825"/>
          </a:xfrm>
          <a:prstGeom prst="rect">
            <a:avLst/>
          </a:prstGeom>
        </p:spPr>
        <p:txBody>
          <a:bodyPr anchor="t" rtlCol="false" tIns="0" lIns="0" bIns="0" rIns="0">
            <a:spAutoFit/>
          </a:bodyPr>
          <a:lstStyle/>
          <a:p>
            <a:pPr algn="l">
              <a:lnSpc>
                <a:spcPts val="4199"/>
              </a:lnSpc>
              <a:spcBef>
                <a:spcPct val="0"/>
              </a:spcBef>
            </a:pPr>
            <a:r>
              <a:rPr lang="en-US" b="true" sz="2999">
                <a:solidFill>
                  <a:srgbClr val="323232"/>
                </a:solidFill>
                <a:latin typeface="Bricolage Grotesque Bold"/>
                <a:ea typeface="Bricolage Grotesque Bold"/>
                <a:cs typeface="Bricolage Grotesque Bold"/>
                <a:sym typeface="Bricolage Grotesque Bold"/>
              </a:rPr>
              <a:t>Cluster 2: Large Retail Supermarkets (Massive Grocery/Detergents spend).</a:t>
            </a:r>
          </a:p>
        </p:txBody>
      </p:sp>
      <p:sp>
        <p:nvSpPr>
          <p:cNvPr name="TextBox 7" id="7"/>
          <p:cNvSpPr txBox="true"/>
          <p:nvPr/>
        </p:nvSpPr>
        <p:spPr>
          <a:xfrm rot="0">
            <a:off x="898948" y="7453795"/>
            <a:ext cx="16360352" cy="504825"/>
          </a:xfrm>
          <a:prstGeom prst="rect">
            <a:avLst/>
          </a:prstGeom>
        </p:spPr>
        <p:txBody>
          <a:bodyPr anchor="t" rtlCol="false" tIns="0" lIns="0" bIns="0" rIns="0">
            <a:spAutoFit/>
          </a:bodyPr>
          <a:lstStyle/>
          <a:p>
            <a:pPr algn="l">
              <a:lnSpc>
                <a:spcPts val="4199"/>
              </a:lnSpc>
              <a:spcBef>
                <a:spcPct val="0"/>
              </a:spcBef>
            </a:pPr>
            <a:r>
              <a:rPr lang="en-US" b="true" sz="2999">
                <a:solidFill>
                  <a:srgbClr val="323232"/>
                </a:solidFill>
                <a:latin typeface="Bricolage Grotesque Bold"/>
                <a:ea typeface="Bricolage Grotesque Bold"/>
                <a:cs typeface="Bricolage Grotesque Bold"/>
                <a:sym typeface="Bricolage Grotesque Bold"/>
              </a:rPr>
              <a:t>Cluster 3: Premium / High-Volume Fresh Buyers (Extremely high Fresh &amp; Delicatessen).</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CDCFCA"/>
        </a:solidFill>
      </p:bgPr>
    </p:bg>
    <p:spTree>
      <p:nvGrpSpPr>
        <p:cNvPr id="1" name=""/>
        <p:cNvGrpSpPr/>
        <p:nvPr/>
      </p:nvGrpSpPr>
      <p:grpSpPr>
        <a:xfrm>
          <a:off x="0" y="0"/>
          <a:ext cx="0" cy="0"/>
          <a:chOff x="0" y="0"/>
          <a:chExt cx="0" cy="0"/>
        </a:xfrm>
      </p:grpSpPr>
      <p:sp>
        <p:nvSpPr>
          <p:cNvPr name="TextBox 2" id="2"/>
          <p:cNvSpPr txBox="true"/>
          <p:nvPr/>
        </p:nvSpPr>
        <p:spPr>
          <a:xfrm rot="0">
            <a:off x="2973933" y="1114425"/>
            <a:ext cx="12340135" cy="885317"/>
          </a:xfrm>
          <a:prstGeom prst="rect">
            <a:avLst/>
          </a:prstGeom>
        </p:spPr>
        <p:txBody>
          <a:bodyPr anchor="t" rtlCol="false" tIns="0" lIns="0" bIns="0" rIns="0">
            <a:spAutoFit/>
          </a:bodyPr>
          <a:lstStyle/>
          <a:p>
            <a:pPr algn="l">
              <a:lnSpc>
                <a:spcPts val="6783"/>
              </a:lnSpc>
            </a:pPr>
            <a:r>
              <a:rPr lang="en-US" sz="6399" b="true">
                <a:solidFill>
                  <a:srgbClr val="000000"/>
                </a:solidFill>
                <a:latin typeface="Bricolage Grotesque Bold"/>
                <a:ea typeface="Bricolage Grotesque Bold"/>
                <a:cs typeface="Bricolage Grotesque Bold"/>
                <a:sym typeface="Bricolage Grotesque Bold"/>
              </a:rPr>
              <a:t>Strat</a:t>
            </a:r>
            <a:r>
              <a:rPr lang="en-US" sz="6399" b="true">
                <a:solidFill>
                  <a:srgbClr val="000000"/>
                </a:solidFill>
                <a:latin typeface="Bricolage Grotesque Bold"/>
                <a:ea typeface="Bricolage Grotesque Bold"/>
                <a:cs typeface="Bricolage Grotesque Bold"/>
                <a:sym typeface="Bricolage Grotesque Bold"/>
              </a:rPr>
              <a:t>egic Recommendations</a:t>
            </a:r>
          </a:p>
        </p:txBody>
      </p:sp>
      <p:sp>
        <p:nvSpPr>
          <p:cNvPr name="AutoShape 3" id="3"/>
          <p:cNvSpPr/>
          <p:nvPr/>
        </p:nvSpPr>
        <p:spPr>
          <a:xfrm flipV="true">
            <a:off x="2643209" y="6801456"/>
            <a:ext cx="3108646" cy="4762"/>
          </a:xfrm>
          <a:prstGeom prst="line">
            <a:avLst/>
          </a:prstGeom>
          <a:ln cap="rnd" w="9525">
            <a:solidFill>
              <a:srgbClr val="000000"/>
            </a:solidFill>
            <a:prstDash val="solid"/>
            <a:headEnd type="none" len="sm" w="sm"/>
            <a:tailEnd type="none" len="sm" w="sm"/>
          </a:ln>
        </p:spPr>
      </p:sp>
      <p:sp>
        <p:nvSpPr>
          <p:cNvPr name="AutoShape 4" id="4"/>
          <p:cNvSpPr/>
          <p:nvPr/>
        </p:nvSpPr>
        <p:spPr>
          <a:xfrm flipV="true">
            <a:off x="7960297" y="6791931"/>
            <a:ext cx="3108646" cy="4763"/>
          </a:xfrm>
          <a:prstGeom prst="line">
            <a:avLst/>
          </a:prstGeom>
          <a:ln cap="rnd" w="9525">
            <a:solidFill>
              <a:srgbClr val="000000"/>
            </a:solidFill>
            <a:prstDash val="solid"/>
            <a:headEnd type="none" len="sm" w="sm"/>
            <a:tailEnd type="none" len="sm" w="sm"/>
          </a:ln>
        </p:spPr>
      </p:sp>
      <p:sp>
        <p:nvSpPr>
          <p:cNvPr name="AutoShape 5" id="5"/>
          <p:cNvSpPr/>
          <p:nvPr/>
        </p:nvSpPr>
        <p:spPr>
          <a:xfrm flipV="true">
            <a:off x="13748870" y="6810981"/>
            <a:ext cx="3108646" cy="4763"/>
          </a:xfrm>
          <a:prstGeom prst="line">
            <a:avLst/>
          </a:prstGeom>
          <a:ln cap="rnd" w="9525">
            <a:solidFill>
              <a:srgbClr val="000000"/>
            </a:solidFill>
            <a:prstDash val="solid"/>
            <a:headEnd type="none" len="sm" w="sm"/>
            <a:tailEnd type="none" len="sm" w="sm"/>
          </a:ln>
        </p:spPr>
      </p:sp>
      <p:sp>
        <p:nvSpPr>
          <p:cNvPr name="TextBox 6" id="6"/>
          <p:cNvSpPr txBox="true"/>
          <p:nvPr/>
        </p:nvSpPr>
        <p:spPr>
          <a:xfrm rot="0">
            <a:off x="1862343" y="4705099"/>
            <a:ext cx="4670379" cy="1808226"/>
          </a:xfrm>
          <a:prstGeom prst="rect">
            <a:avLst/>
          </a:prstGeom>
        </p:spPr>
        <p:txBody>
          <a:bodyPr anchor="t" rtlCol="false" tIns="0" lIns="0" bIns="0" rIns="0">
            <a:spAutoFit/>
          </a:bodyPr>
          <a:lstStyle/>
          <a:p>
            <a:pPr algn="ctr">
              <a:lnSpc>
                <a:spcPts val="3551"/>
              </a:lnSpc>
            </a:pPr>
            <a:r>
              <a:rPr lang="en-US" b="true" sz="3199">
                <a:solidFill>
                  <a:srgbClr val="000000"/>
                </a:solidFill>
                <a:latin typeface="Bricolage Grotesque Bold"/>
                <a:ea typeface="Bricolage Grotesque Bold"/>
                <a:cs typeface="Bricolage Grotesque Bold"/>
                <a:sym typeface="Bricolage Grotesque Bold"/>
              </a:rPr>
              <a:t>Restaurants: Offer dynamic daily deliveries for perishables.</a:t>
            </a:r>
          </a:p>
        </p:txBody>
      </p:sp>
      <p:sp>
        <p:nvSpPr>
          <p:cNvPr name="TextBox 7" id="7"/>
          <p:cNvSpPr txBox="true"/>
          <p:nvPr/>
        </p:nvSpPr>
        <p:spPr>
          <a:xfrm rot="0">
            <a:off x="7198767" y="4654331"/>
            <a:ext cx="4616528" cy="1808226"/>
          </a:xfrm>
          <a:prstGeom prst="rect">
            <a:avLst/>
          </a:prstGeom>
        </p:spPr>
        <p:txBody>
          <a:bodyPr anchor="t" rtlCol="false" tIns="0" lIns="0" bIns="0" rIns="0">
            <a:spAutoFit/>
          </a:bodyPr>
          <a:lstStyle/>
          <a:p>
            <a:pPr algn="ctr">
              <a:lnSpc>
                <a:spcPts val="3551"/>
              </a:lnSpc>
            </a:pPr>
            <a:r>
              <a:rPr lang="en-US" b="true" sz="3199">
                <a:solidFill>
                  <a:srgbClr val="000000"/>
                </a:solidFill>
                <a:latin typeface="Bricolage Grotesque Bold"/>
                <a:ea typeface="Bricolage Grotesque Bold"/>
                <a:cs typeface="Bricolage Grotesque Bold"/>
                <a:sym typeface="Bricolage Grotesque Bold"/>
              </a:rPr>
              <a:t>Supermarkets: Negotiate long-term bulk contracts on non-perishables.</a:t>
            </a:r>
          </a:p>
        </p:txBody>
      </p:sp>
      <p:sp>
        <p:nvSpPr>
          <p:cNvPr name="TextBox 8" id="8"/>
          <p:cNvSpPr txBox="true"/>
          <p:nvPr/>
        </p:nvSpPr>
        <p:spPr>
          <a:xfrm rot="0">
            <a:off x="13092077" y="4709861"/>
            <a:ext cx="4422233" cy="1808226"/>
          </a:xfrm>
          <a:prstGeom prst="rect">
            <a:avLst/>
          </a:prstGeom>
        </p:spPr>
        <p:txBody>
          <a:bodyPr anchor="t" rtlCol="false" tIns="0" lIns="0" bIns="0" rIns="0">
            <a:spAutoFit/>
          </a:bodyPr>
          <a:lstStyle/>
          <a:p>
            <a:pPr algn="ctr">
              <a:lnSpc>
                <a:spcPts val="3551"/>
              </a:lnSpc>
            </a:pPr>
            <a:r>
              <a:rPr lang="en-US" b="true" sz="3199">
                <a:solidFill>
                  <a:srgbClr val="000000"/>
                </a:solidFill>
                <a:latin typeface="Bricolage Grotesque Bold"/>
                <a:ea typeface="Bricolage Grotesque Bold"/>
                <a:cs typeface="Bricolage Grotesque Bold"/>
                <a:sym typeface="Bricolage Grotesque Bold"/>
              </a:rPr>
              <a:t>Premium Buyers: Upsell high-margin, farm-to-table specialty items.</a:t>
            </a:r>
          </a:p>
        </p:txBody>
      </p:sp>
      <p:sp>
        <p:nvSpPr>
          <p:cNvPr name="Freeform 9" id="9"/>
          <p:cNvSpPr/>
          <p:nvPr/>
        </p:nvSpPr>
        <p:spPr>
          <a:xfrm flipH="false" flipV="false" rot="0">
            <a:off x="3939220" y="3845535"/>
            <a:ext cx="516625" cy="557145"/>
          </a:xfrm>
          <a:custGeom>
            <a:avLst/>
            <a:gdLst/>
            <a:ahLst/>
            <a:cxnLst/>
            <a:rect r="r" b="b" t="t" l="l"/>
            <a:pathLst>
              <a:path h="557145" w="516625">
                <a:moveTo>
                  <a:pt x="0" y="0"/>
                </a:moveTo>
                <a:lnTo>
                  <a:pt x="516625" y="0"/>
                </a:lnTo>
                <a:lnTo>
                  <a:pt x="516625" y="557145"/>
                </a:lnTo>
                <a:lnTo>
                  <a:pt x="0" y="55714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0" id="10"/>
          <p:cNvGrpSpPr/>
          <p:nvPr/>
        </p:nvGrpSpPr>
        <p:grpSpPr>
          <a:xfrm rot="0">
            <a:off x="8601091" y="3871980"/>
            <a:ext cx="1085818" cy="557145"/>
            <a:chOff x="0" y="0"/>
            <a:chExt cx="1447758" cy="742860"/>
          </a:xfrm>
        </p:grpSpPr>
        <p:sp>
          <p:nvSpPr>
            <p:cNvPr name="Freeform 11" id="11"/>
            <p:cNvSpPr/>
            <p:nvPr/>
          </p:nvSpPr>
          <p:spPr>
            <a:xfrm flipH="false" flipV="false" rot="0">
              <a:off x="0" y="0"/>
              <a:ext cx="688834" cy="742860"/>
            </a:xfrm>
            <a:custGeom>
              <a:avLst/>
              <a:gdLst/>
              <a:ahLst/>
              <a:cxnLst/>
              <a:rect r="r" b="b" t="t" l="l"/>
              <a:pathLst>
                <a:path h="742860" w="688834">
                  <a:moveTo>
                    <a:pt x="0" y="0"/>
                  </a:moveTo>
                  <a:lnTo>
                    <a:pt x="688834" y="0"/>
                  </a:lnTo>
                  <a:lnTo>
                    <a:pt x="688834" y="742860"/>
                  </a:lnTo>
                  <a:lnTo>
                    <a:pt x="0" y="74286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0">
              <a:off x="758924" y="0"/>
              <a:ext cx="688834" cy="742860"/>
            </a:xfrm>
            <a:custGeom>
              <a:avLst/>
              <a:gdLst/>
              <a:ahLst/>
              <a:cxnLst/>
              <a:rect r="r" b="b" t="t" l="l"/>
              <a:pathLst>
                <a:path h="742860" w="688834">
                  <a:moveTo>
                    <a:pt x="0" y="0"/>
                  </a:moveTo>
                  <a:lnTo>
                    <a:pt x="688834" y="0"/>
                  </a:lnTo>
                  <a:lnTo>
                    <a:pt x="688834" y="742860"/>
                  </a:lnTo>
                  <a:lnTo>
                    <a:pt x="0" y="74286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grpSp>
        <p:nvGrpSpPr>
          <p:cNvPr name="Group 13" id="13"/>
          <p:cNvGrpSpPr/>
          <p:nvPr/>
        </p:nvGrpSpPr>
        <p:grpSpPr>
          <a:xfrm rot="0">
            <a:off x="14424402" y="3845535"/>
            <a:ext cx="1757583" cy="557145"/>
            <a:chOff x="0" y="0"/>
            <a:chExt cx="2343444" cy="742860"/>
          </a:xfrm>
        </p:grpSpPr>
        <p:sp>
          <p:nvSpPr>
            <p:cNvPr name="Freeform 14" id="14"/>
            <p:cNvSpPr/>
            <p:nvPr/>
          </p:nvSpPr>
          <p:spPr>
            <a:xfrm flipH="false" flipV="false" rot="0">
              <a:off x="0" y="0"/>
              <a:ext cx="688834" cy="742860"/>
            </a:xfrm>
            <a:custGeom>
              <a:avLst/>
              <a:gdLst/>
              <a:ahLst/>
              <a:cxnLst/>
              <a:rect r="r" b="b" t="t" l="l"/>
              <a:pathLst>
                <a:path h="742860" w="688834">
                  <a:moveTo>
                    <a:pt x="0" y="0"/>
                  </a:moveTo>
                  <a:lnTo>
                    <a:pt x="688834" y="0"/>
                  </a:lnTo>
                  <a:lnTo>
                    <a:pt x="688834" y="742860"/>
                  </a:lnTo>
                  <a:lnTo>
                    <a:pt x="0" y="74286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5" id="15"/>
            <p:cNvSpPr/>
            <p:nvPr/>
          </p:nvSpPr>
          <p:spPr>
            <a:xfrm flipH="false" flipV="false" rot="0">
              <a:off x="827305" y="0"/>
              <a:ext cx="688834" cy="742860"/>
            </a:xfrm>
            <a:custGeom>
              <a:avLst/>
              <a:gdLst/>
              <a:ahLst/>
              <a:cxnLst/>
              <a:rect r="r" b="b" t="t" l="l"/>
              <a:pathLst>
                <a:path h="742860" w="688834">
                  <a:moveTo>
                    <a:pt x="0" y="0"/>
                  </a:moveTo>
                  <a:lnTo>
                    <a:pt x="688834" y="0"/>
                  </a:lnTo>
                  <a:lnTo>
                    <a:pt x="688834" y="742860"/>
                  </a:lnTo>
                  <a:lnTo>
                    <a:pt x="0" y="74286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6" id="16"/>
            <p:cNvSpPr/>
            <p:nvPr/>
          </p:nvSpPr>
          <p:spPr>
            <a:xfrm flipH="false" flipV="false" rot="0">
              <a:off x="1654610" y="0"/>
              <a:ext cx="688834" cy="742860"/>
            </a:xfrm>
            <a:custGeom>
              <a:avLst/>
              <a:gdLst/>
              <a:ahLst/>
              <a:cxnLst/>
              <a:rect r="r" b="b" t="t" l="l"/>
              <a:pathLst>
                <a:path h="742860" w="688834">
                  <a:moveTo>
                    <a:pt x="0" y="0"/>
                  </a:moveTo>
                  <a:lnTo>
                    <a:pt x="688834" y="0"/>
                  </a:lnTo>
                  <a:lnTo>
                    <a:pt x="688834" y="742860"/>
                  </a:lnTo>
                  <a:lnTo>
                    <a:pt x="0" y="74286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039486" y="1253040"/>
            <a:ext cx="1037232" cy="1118584"/>
          </a:xfrm>
          <a:custGeom>
            <a:avLst/>
            <a:gdLst/>
            <a:ahLst/>
            <a:cxnLst/>
            <a:rect r="r" b="b" t="t" l="l"/>
            <a:pathLst>
              <a:path h="1118584" w="1037232">
                <a:moveTo>
                  <a:pt x="0" y="0"/>
                </a:moveTo>
                <a:lnTo>
                  <a:pt x="1037232" y="0"/>
                </a:lnTo>
                <a:lnTo>
                  <a:pt x="1037232" y="1118584"/>
                </a:lnTo>
                <a:lnTo>
                  <a:pt x="0" y="111858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3" id="3"/>
          <p:cNvSpPr txBox="true"/>
          <p:nvPr/>
        </p:nvSpPr>
        <p:spPr>
          <a:xfrm rot="0">
            <a:off x="4629377" y="1329240"/>
            <a:ext cx="8533377" cy="896239"/>
          </a:xfrm>
          <a:prstGeom prst="rect">
            <a:avLst/>
          </a:prstGeom>
        </p:spPr>
        <p:txBody>
          <a:bodyPr anchor="t" rtlCol="false" tIns="0" lIns="0" bIns="0" rIns="0">
            <a:spAutoFit/>
          </a:bodyPr>
          <a:lstStyle/>
          <a:p>
            <a:pPr algn="ctr">
              <a:lnSpc>
                <a:spcPts val="6847"/>
              </a:lnSpc>
            </a:pPr>
            <a:r>
              <a:rPr lang="en-US" b="true" sz="6399">
                <a:solidFill>
                  <a:srgbClr val="323232"/>
                </a:solidFill>
                <a:latin typeface="Bricolage Grotesque Bold"/>
                <a:ea typeface="Bricolage Grotesque Bold"/>
                <a:cs typeface="Bricolage Grotesque Bold"/>
                <a:sym typeface="Bricolage Grotesque Bold"/>
              </a:rPr>
              <a:t>Conclusion</a:t>
            </a:r>
          </a:p>
        </p:txBody>
      </p:sp>
      <p:sp>
        <p:nvSpPr>
          <p:cNvPr name="TextBox 4" id="4"/>
          <p:cNvSpPr txBox="true"/>
          <p:nvPr/>
        </p:nvSpPr>
        <p:spPr>
          <a:xfrm rot="0">
            <a:off x="1265595" y="4896032"/>
            <a:ext cx="15993705" cy="2062800"/>
          </a:xfrm>
          <a:prstGeom prst="rect">
            <a:avLst/>
          </a:prstGeom>
        </p:spPr>
        <p:txBody>
          <a:bodyPr anchor="t" rtlCol="false" tIns="0" lIns="0" bIns="0" rIns="0">
            <a:spAutoFit/>
          </a:bodyPr>
          <a:lstStyle/>
          <a:p>
            <a:pPr algn="just">
              <a:lnSpc>
                <a:spcPts val="5477"/>
              </a:lnSpc>
              <a:spcBef>
                <a:spcPct val="0"/>
              </a:spcBef>
            </a:pPr>
            <a:r>
              <a:rPr lang="en-US" b="true" sz="3912">
                <a:solidFill>
                  <a:srgbClr val="323232"/>
                </a:solidFill>
                <a:latin typeface="Bricolage Grotesque Bold"/>
                <a:ea typeface="Bricolage Grotesque Bold"/>
                <a:cs typeface="Bricolage Grotesque Bold"/>
                <a:sym typeface="Bricolage Grotesque Bold"/>
              </a:rPr>
              <a:t>In conclusion, we successfully took a complex, multidimensional dataset, applied strict statistical methodology, and produced three highly actionable customer segments.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039486" y="1253040"/>
            <a:ext cx="1037232" cy="1118584"/>
          </a:xfrm>
          <a:custGeom>
            <a:avLst/>
            <a:gdLst/>
            <a:ahLst/>
            <a:cxnLst/>
            <a:rect r="r" b="b" t="t" l="l"/>
            <a:pathLst>
              <a:path h="1118584" w="1037232">
                <a:moveTo>
                  <a:pt x="0" y="0"/>
                </a:moveTo>
                <a:lnTo>
                  <a:pt x="1037232" y="0"/>
                </a:lnTo>
                <a:lnTo>
                  <a:pt x="1037232" y="1118584"/>
                </a:lnTo>
                <a:lnTo>
                  <a:pt x="0" y="11185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2137017" y="3715568"/>
            <a:ext cx="14487717" cy="2989213"/>
          </a:xfrm>
          <a:prstGeom prst="rect">
            <a:avLst/>
          </a:prstGeom>
        </p:spPr>
        <p:txBody>
          <a:bodyPr anchor="t" rtlCol="false" tIns="0" lIns="0" bIns="0" rIns="0">
            <a:spAutoFit/>
          </a:bodyPr>
          <a:lstStyle/>
          <a:p>
            <a:pPr algn="ctr">
              <a:lnSpc>
                <a:spcPts val="11626"/>
              </a:lnSpc>
            </a:pPr>
            <a:r>
              <a:rPr lang="en-US" b="true" sz="10865">
                <a:solidFill>
                  <a:srgbClr val="323232"/>
                </a:solidFill>
                <a:latin typeface="Bricolage Grotesque Bold"/>
                <a:ea typeface="Bricolage Grotesque Bold"/>
                <a:cs typeface="Bricolage Grotesque Bold"/>
                <a:sym typeface="Bricolage Grotesque Bold"/>
              </a:rPr>
              <a:t>Thank you for your attention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DAHKB-2gbrc</dc:identifier>
  <dcterms:modified xsi:type="dcterms:W3CDTF">2011-08-01T06:04:30Z</dcterms:modified>
  <cp:revision>1</cp:revision>
  <dc:title>Projet de Méthodes statistiques et Etude de données </dc:title>
</cp:coreProperties>
</file>